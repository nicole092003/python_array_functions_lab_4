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49"/>
  </p:notesMasterIdLst>
  <p:handoutMasterIdLst>
    <p:handoutMasterId r:id="rId50"/>
  </p:handoutMasterIdLst>
  <p:sldIdLst>
    <p:sldId id="399" r:id="rId2"/>
    <p:sldId id="333" r:id="rId3"/>
    <p:sldId id="338" r:id="rId4"/>
    <p:sldId id="339" r:id="rId5"/>
    <p:sldId id="340" r:id="rId6"/>
    <p:sldId id="341" r:id="rId7"/>
    <p:sldId id="342" r:id="rId8"/>
    <p:sldId id="343" r:id="rId9"/>
    <p:sldId id="344" r:id="rId10"/>
    <p:sldId id="345" r:id="rId11"/>
    <p:sldId id="346" r:id="rId12"/>
    <p:sldId id="350" r:id="rId13"/>
    <p:sldId id="351" r:id="rId14"/>
    <p:sldId id="352" r:id="rId15"/>
    <p:sldId id="401" r:id="rId16"/>
    <p:sldId id="354" r:id="rId17"/>
    <p:sldId id="355" r:id="rId18"/>
    <p:sldId id="356" r:id="rId19"/>
    <p:sldId id="357" r:id="rId20"/>
    <p:sldId id="358" r:id="rId21"/>
    <p:sldId id="359" r:id="rId22"/>
    <p:sldId id="361" r:id="rId23"/>
    <p:sldId id="362" r:id="rId24"/>
    <p:sldId id="363" r:id="rId25"/>
    <p:sldId id="364" r:id="rId26"/>
    <p:sldId id="368" r:id="rId27"/>
    <p:sldId id="369" r:id="rId28"/>
    <p:sldId id="370" r:id="rId29"/>
    <p:sldId id="371" r:id="rId30"/>
    <p:sldId id="372" r:id="rId31"/>
    <p:sldId id="373" r:id="rId32"/>
    <p:sldId id="374" r:id="rId33"/>
    <p:sldId id="398" r:id="rId34"/>
    <p:sldId id="376" r:id="rId35"/>
    <p:sldId id="384" r:id="rId36"/>
    <p:sldId id="385" r:id="rId37"/>
    <p:sldId id="386" r:id="rId38"/>
    <p:sldId id="387" r:id="rId39"/>
    <p:sldId id="397" r:id="rId40"/>
    <p:sldId id="388" r:id="rId41"/>
    <p:sldId id="389" r:id="rId42"/>
    <p:sldId id="378" r:id="rId43"/>
    <p:sldId id="379" r:id="rId44"/>
    <p:sldId id="396" r:id="rId45"/>
    <p:sldId id="380" r:id="rId46"/>
    <p:sldId id="382" r:id="rId47"/>
    <p:sldId id="383" r:id="rId48"/>
  </p:sldIdLst>
  <p:sldSz cx="9144000" cy="6858000" type="screen4x3"/>
  <p:notesSz cx="6858000" cy="9144000"/>
  <p:custDataLst>
    <p:tags r:id="rId51"/>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S.A.Bennett" initials="SB" lastIdx="8" clrIdx="3"/>
  <p:cmAuthor id="4" name="Julie Tomsho" initials="JRT" lastIdx="4"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D4"/>
    <a:srgbClr val="004978"/>
    <a:srgbClr val="006800"/>
    <a:srgbClr val="8A3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4" autoAdjust="0"/>
    <p:restoredTop sz="96408" autoAdjust="0"/>
  </p:normalViewPr>
  <p:slideViewPr>
    <p:cSldViewPr>
      <p:cViewPr varScale="1">
        <p:scale>
          <a:sx n="78" d="100"/>
          <a:sy n="78" d="100"/>
        </p:scale>
        <p:origin x="1258" y="72"/>
      </p:cViewPr>
      <p:guideLst>
        <p:guide orient="horz" pos="2160"/>
        <p:guide pos="2880"/>
      </p:guideLst>
    </p:cSldViewPr>
  </p:slideViewPr>
  <p:outlineViewPr>
    <p:cViewPr>
      <p:scale>
        <a:sx n="33" d="100"/>
        <a:sy n="33" d="100"/>
      </p:scale>
      <p:origin x="0" y="-6438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996258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1277704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3020882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426253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672472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257369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3131994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1579086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3757642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1545387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2191095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1913031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597611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2264523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2916265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289170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2308539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118851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2953456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2761588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3581638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193119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2997406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14326789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4185660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12971190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559438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2076140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22972452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2786438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2827057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13838074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20428766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1979103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3307201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37386249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18616659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33985544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29036578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673691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22347626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11354475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8624120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20583941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12833789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24504883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3554156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 name="Title 1"/>
          <p:cNvSpPr>
            <a:spLocks noGrp="1"/>
          </p:cNvSpPr>
          <p:nvPr>
            <p:ph type="title"/>
          </p:nvPr>
        </p:nvSpPr>
        <p:spPr/>
        <p:txBody>
          <a:bodyPr/>
          <a:lstStyle/>
          <a:p>
            <a:r>
              <a:rPr lang="en-US"/>
              <a:t>Click to edit Master title style</a:t>
            </a:r>
            <a:endParaRPr lang="en-IN"/>
          </a:p>
        </p:txBody>
      </p:sp>
      <p:sp>
        <p:nvSpPr>
          <p:cNvPr id="17" name="Footer Placeholder 2"/>
          <p:cNvSpPr>
            <a:spLocks noGrp="1"/>
          </p:cNvSpPr>
          <p:nvPr>
            <p:ph type="ftr" sz="quarter" idx="10"/>
          </p:nvPr>
        </p:nvSpPr>
        <p:spPr>
          <a:xfrm>
            <a:off x="628650" y="6156519"/>
            <a:ext cx="7886700" cy="365125"/>
          </a:xfrm>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4194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6534" y="2088093"/>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49" y="23251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45581" y="2562227"/>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54049" y="28077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36195AC9-BFC6-4E47-89AB-74CA8BB5098B}"/>
              </a:ext>
            </a:extLst>
          </p:cNvPr>
          <p:cNvSpPr>
            <a:spLocks noGrp="1"/>
          </p:cNvSpPr>
          <p:nvPr>
            <p:ph idx="16"/>
          </p:nvPr>
        </p:nvSpPr>
        <p:spPr>
          <a:xfrm>
            <a:off x="660402" y="3056467"/>
            <a:ext cx="7886700" cy="2317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36195AC9-BFC6-4E47-89AB-74CA8BB5098B}"/>
              </a:ext>
            </a:extLst>
          </p:cNvPr>
          <p:cNvSpPr>
            <a:spLocks noGrp="1"/>
          </p:cNvSpPr>
          <p:nvPr>
            <p:ph idx="17"/>
          </p:nvPr>
        </p:nvSpPr>
        <p:spPr>
          <a:xfrm>
            <a:off x="668869" y="3366556"/>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6195AC9-BFC6-4E47-89AB-74CA8BB5098B}"/>
              </a:ext>
            </a:extLst>
          </p:cNvPr>
          <p:cNvSpPr>
            <a:spLocks noGrp="1"/>
          </p:cNvSpPr>
          <p:nvPr>
            <p:ph idx="18"/>
          </p:nvPr>
        </p:nvSpPr>
        <p:spPr>
          <a:xfrm>
            <a:off x="687914" y="36628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36195AC9-BFC6-4E47-89AB-74CA8BB5098B}"/>
              </a:ext>
            </a:extLst>
          </p:cNvPr>
          <p:cNvSpPr>
            <a:spLocks noGrp="1"/>
          </p:cNvSpPr>
          <p:nvPr>
            <p:ph idx="19"/>
          </p:nvPr>
        </p:nvSpPr>
        <p:spPr>
          <a:xfrm>
            <a:off x="696382" y="3959225"/>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4" name="Content Placeholder 2">
            <a:extLst>
              <a:ext uri="{FF2B5EF4-FFF2-40B4-BE49-F238E27FC236}">
                <a16:creationId xmlns:a16="http://schemas.microsoft.com/office/drawing/2014/main" id="{36195AC9-BFC6-4E47-89AB-74CA8BB5098B}"/>
              </a:ext>
            </a:extLst>
          </p:cNvPr>
          <p:cNvSpPr>
            <a:spLocks noGrp="1"/>
          </p:cNvSpPr>
          <p:nvPr>
            <p:ph idx="20"/>
          </p:nvPr>
        </p:nvSpPr>
        <p:spPr>
          <a:xfrm>
            <a:off x="696382" y="42640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6195AC9-BFC6-4E47-89AB-74CA8BB5098B}"/>
              </a:ext>
            </a:extLst>
          </p:cNvPr>
          <p:cNvSpPr>
            <a:spLocks noGrp="1"/>
          </p:cNvSpPr>
          <p:nvPr>
            <p:ph idx="21"/>
          </p:nvPr>
        </p:nvSpPr>
        <p:spPr>
          <a:xfrm>
            <a:off x="694267" y="457200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36195AC9-BFC6-4E47-89AB-74CA8BB5098B}"/>
              </a:ext>
            </a:extLst>
          </p:cNvPr>
          <p:cNvSpPr>
            <a:spLocks noGrp="1"/>
          </p:cNvSpPr>
          <p:nvPr>
            <p:ph idx="22"/>
          </p:nvPr>
        </p:nvSpPr>
        <p:spPr>
          <a:xfrm>
            <a:off x="702734" y="4899026"/>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7" name="Content Placeholder 2">
            <a:extLst>
              <a:ext uri="{FF2B5EF4-FFF2-40B4-BE49-F238E27FC236}">
                <a16:creationId xmlns:a16="http://schemas.microsoft.com/office/drawing/2014/main" id="{36195AC9-BFC6-4E47-89AB-74CA8BB5098B}"/>
              </a:ext>
            </a:extLst>
          </p:cNvPr>
          <p:cNvSpPr>
            <a:spLocks noGrp="1"/>
          </p:cNvSpPr>
          <p:nvPr>
            <p:ph idx="23"/>
          </p:nvPr>
        </p:nvSpPr>
        <p:spPr>
          <a:xfrm>
            <a:off x="719665" y="52122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36195AC9-BFC6-4E47-89AB-74CA8BB5098B}"/>
              </a:ext>
            </a:extLst>
          </p:cNvPr>
          <p:cNvSpPr>
            <a:spLocks noGrp="1"/>
          </p:cNvSpPr>
          <p:nvPr>
            <p:ph idx="24"/>
          </p:nvPr>
        </p:nvSpPr>
        <p:spPr>
          <a:xfrm>
            <a:off x="730248" y="551709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36195AC9-BFC6-4E47-89AB-74CA8BB5098B}"/>
              </a:ext>
            </a:extLst>
          </p:cNvPr>
          <p:cNvSpPr>
            <a:spLocks noGrp="1"/>
          </p:cNvSpPr>
          <p:nvPr>
            <p:ph idx="25"/>
          </p:nvPr>
        </p:nvSpPr>
        <p:spPr>
          <a:xfrm>
            <a:off x="738715" y="5830357"/>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433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79887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
        <p:nvSpPr>
          <p:cNvPr id="7" name="Content Placeholder 7"/>
          <p:cNvSpPr>
            <a:spLocks noGrp="1"/>
          </p:cNvSpPr>
          <p:nvPr>
            <p:ph sz="quarter" idx="14"/>
          </p:nvPr>
        </p:nvSpPr>
        <p:spPr>
          <a:xfrm>
            <a:off x="8763000" y="4038600"/>
            <a:ext cx="304800" cy="762000"/>
          </a:xfrm>
        </p:spPr>
        <p:txBody>
          <a:bodyPr/>
          <a:lstStyle/>
          <a:p>
            <a:pPr lvl="0"/>
            <a:endParaRPr lang="en-IN" dirty="0"/>
          </a:p>
        </p:txBody>
      </p:sp>
    </p:spTree>
    <p:extLst>
      <p:ext uri="{BB962C8B-B14F-4D97-AF65-F5344CB8AC3E}">
        <p14:creationId xmlns:p14="http://schemas.microsoft.com/office/powerpoint/2010/main" val="3268309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70" r:id="rId9"/>
    <p:sldLayoutId id="2147483768" r:id="rId10"/>
    <p:sldLayoutId id="2147483769" r:id="rId11"/>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9.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2.wmf"/><Relationship Id="rId2" Type="http://schemas.openxmlformats.org/officeDocument/2006/relationships/slideLayout" Target="../slideLayouts/slideLayout11.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1.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vmlDrawing" Target="../drawings/vmlDrawing3.vml"/><Relationship Id="rId5" Type="http://schemas.openxmlformats.org/officeDocument/2006/relationships/image" Target="../media/image13.w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vmlDrawing" Target="../drawings/vmlDrawing4.vml"/><Relationship Id="rId5" Type="http://schemas.openxmlformats.org/officeDocument/2006/relationships/image" Target="../media/image14.w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vmlDrawing" Target="../drawings/vmlDrawing5.vml"/><Relationship Id="rId5" Type="http://schemas.openxmlformats.org/officeDocument/2006/relationships/image" Target="../media/image19.wmf"/><Relationship Id="rId4"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3: Searching, Sorting, and Complexity</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745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a:t>
            </a:r>
          </a:p>
        </p:txBody>
      </p:sp>
      <p:sp>
        <p:nvSpPr>
          <p:cNvPr id="9219" name="Content Placeholder 6"/>
          <p:cNvSpPr>
            <a:spLocks noGrp="1"/>
          </p:cNvSpPr>
          <p:nvPr>
            <p:ph idx="1"/>
          </p:nvPr>
        </p:nvSpPr>
        <p:spPr>
          <a:xfrm>
            <a:off x="628650" y="1825625"/>
            <a:ext cx="7886700" cy="4194175"/>
          </a:xfrm>
        </p:spPr>
        <p:txBody>
          <a:bodyPr>
            <a:normAutofit/>
          </a:bodyPr>
          <a:lstStyle/>
          <a:p>
            <a:pPr marL="291600" indent="-291600">
              <a:spcBef>
                <a:spcPts val="1000"/>
              </a:spcBef>
            </a:pPr>
            <a:r>
              <a:rPr lang="en-US" dirty="0"/>
              <a:t>Determine the rate of growth of the work of an algorithm in terms of its problem size</a:t>
            </a:r>
          </a:p>
          <a:p>
            <a:pPr marL="291600" indent="-291600">
              <a:spcBef>
                <a:spcPts val="1000"/>
              </a:spcBef>
            </a:pPr>
            <a:r>
              <a:rPr lang="en-US" dirty="0"/>
              <a:t>Use big-O notation to describe the running time of an algorithm</a:t>
            </a:r>
          </a:p>
          <a:p>
            <a:pPr marL="291600" indent="-291600">
              <a:spcBef>
                <a:spcPts val="1000"/>
              </a:spcBef>
            </a:pPr>
            <a:r>
              <a:rPr lang="en-US" dirty="0"/>
              <a:t>Recognize the common rates of growth of work, or complexity classes – constant, logarithmic, linear, quadratic, and exponential</a:t>
            </a:r>
          </a:p>
          <a:p>
            <a:pPr marL="291600" indent="-291600">
              <a:spcBef>
                <a:spcPts val="1000"/>
              </a:spcBef>
            </a:pPr>
            <a:r>
              <a:rPr lang="en-US" dirty="0"/>
              <a:t>Describe how the sequential search and binary search algorithms work</a:t>
            </a:r>
          </a:p>
          <a:p>
            <a:pPr marL="291600" indent="-291600">
              <a:spcBef>
                <a:spcPts val="1000"/>
              </a:spcBef>
            </a:pPr>
            <a:r>
              <a:rPr lang="en-US" dirty="0"/>
              <a:t>Describe how some sorting algorithms work</a:t>
            </a:r>
          </a:p>
        </p:txBody>
      </p:sp>
      <p:sp>
        <p:nvSpPr>
          <p:cNvPr id="9220" name="Footer Placeholder 7"/>
          <p:cNvSpPr>
            <a:spLocks noGrp="1"/>
          </p:cNvSpPr>
          <p:nvPr>
            <p:ph type="ftr" sz="quarter" idx="11"/>
          </p:nvPr>
        </p:nvSpPr>
        <p:spPr/>
        <p:txBody>
          <a:bodyPr/>
          <a:lstStyle/>
          <a:p>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Measuring the Run Time of an Algorithm </a:t>
            </a:r>
            <a:r>
              <a:rPr lang="en-US" sz="2000" dirty="0"/>
              <a:t>(1 of 6)</a:t>
            </a:r>
          </a:p>
        </p:txBody>
      </p:sp>
      <p:sp>
        <p:nvSpPr>
          <p:cNvPr id="3" name="Content Placeholder 2"/>
          <p:cNvSpPr>
            <a:spLocks noGrp="1"/>
          </p:cNvSpPr>
          <p:nvPr>
            <p:ph idx="1"/>
          </p:nvPr>
        </p:nvSpPr>
        <p:spPr>
          <a:xfrm>
            <a:off x="628650" y="1825625"/>
            <a:ext cx="7886700" cy="2974975"/>
          </a:xfrm>
        </p:spPr>
        <p:txBody>
          <a:bodyPr>
            <a:normAutofit/>
          </a:bodyPr>
          <a:lstStyle/>
          <a:p>
            <a:pPr marL="291600" indent="-291600">
              <a:spcBef>
                <a:spcPts val="1000"/>
              </a:spcBef>
            </a:pPr>
            <a:r>
              <a:rPr lang="en-US" dirty="0"/>
              <a:t>Use the computer’s clock to obtain an actual run time:</a:t>
            </a:r>
          </a:p>
          <a:p>
            <a:pPr lvl="1">
              <a:spcBef>
                <a:spcPts val="1000"/>
              </a:spcBef>
            </a:pPr>
            <a:r>
              <a:rPr lang="en-US" dirty="0"/>
              <a:t>Process is called benchmarking or profiling</a:t>
            </a:r>
          </a:p>
          <a:p>
            <a:pPr marL="291600" indent="-291600">
              <a:spcBef>
                <a:spcPts val="1000"/>
              </a:spcBef>
            </a:pPr>
            <a:r>
              <a:rPr lang="en-US" dirty="0"/>
              <a:t>Starts by determining the time for several different data sets of the same size and then calculates the average time</a:t>
            </a:r>
          </a:p>
          <a:p>
            <a:pPr marL="291600" indent="-291600">
              <a:spcBef>
                <a:spcPts val="1000"/>
              </a:spcBef>
            </a:pPr>
            <a:r>
              <a:rPr lang="en-US" dirty="0"/>
              <a:t>Next, similar data are gathered for larger and larger data sets:</a:t>
            </a:r>
          </a:p>
          <a:p>
            <a:pPr lvl="1">
              <a:spcBef>
                <a:spcPts val="1000"/>
              </a:spcBef>
            </a:pPr>
            <a:r>
              <a:rPr lang="en-US" dirty="0"/>
              <a:t>After several tests, enough data are available to predict how the algorithm will behave for a data set of any size</a:t>
            </a:r>
          </a:p>
          <a:p>
            <a:pPr marL="291600" indent="-291600">
              <a:spcBef>
                <a:spcPts val="1000"/>
              </a:spcBef>
            </a:pPr>
            <a:r>
              <a:rPr lang="en-US" dirty="0"/>
              <a:t>Code for a tester program is found on the following slide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7227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(2 of 6)</a:t>
            </a:r>
          </a:p>
        </p:txBody>
      </p:sp>
      <p:sp>
        <p:nvSpPr>
          <p:cNvPr id="3" name="Content Placeholder 2"/>
          <p:cNvSpPr>
            <a:spLocks noGrp="1"/>
          </p:cNvSpPr>
          <p:nvPr>
            <p:ph idx="1"/>
          </p:nvPr>
        </p:nvSpPr>
        <p:spPr>
          <a:xfrm>
            <a:off x="628650" y="1825625"/>
            <a:ext cx="7886700" cy="4041775"/>
          </a:xfrm>
        </p:spPr>
        <p:txBody>
          <a:bodyPr>
            <a:normAutofit fontScale="700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timing1.py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running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single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import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10000000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"%12s%16s"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"Seconds"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start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x</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elapsed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start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"%12d%16.3f"</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elapsed))</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679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(3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 </a:t>
            </a:r>
            <a:r>
              <a:rPr lang="en-IN" dirty="0"/>
              <a:t>The output of the tester program</a:t>
            </a:r>
            <a:endParaRPr lang="en-US" dirty="0">
              <a:latin typeface="Open Sans"/>
            </a:endParaRPr>
          </a:p>
        </p:txBody>
      </p:sp>
      <p:pic>
        <p:nvPicPr>
          <p:cNvPr id="7" name="Content Placeholder 6" descr="Program code. In the code, the words in the variable names are merged. Line 1: Problem size, indented, seconds. Line 2: 10000000, indented, 3. 8. Line 3: 20000000, indented, 7. 591. Line 4: 40000000, indented, 15. 352. Line 5: 80000000, indented, 30. 697. Line 6: 1680000000, indented, 61. 631."/>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2509"/>
            <a:ext cx="4614471" cy="2775291"/>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7820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(4 of 6)</a:t>
            </a:r>
          </a:p>
        </p:txBody>
      </p:sp>
      <p:sp>
        <p:nvSpPr>
          <p:cNvPr id="3" name="Content Placeholder 2"/>
          <p:cNvSpPr>
            <a:spLocks noGrp="1"/>
          </p:cNvSpPr>
          <p:nvPr>
            <p:ph idx="1"/>
          </p:nvPr>
        </p:nvSpPr>
        <p:spPr>
          <a:xfrm>
            <a:off x="628650" y="1825625"/>
            <a:ext cx="7886700" cy="612775"/>
          </a:xfrm>
        </p:spPr>
        <p:txBody>
          <a:bodyPr>
            <a:normAutofit/>
          </a:bodyPr>
          <a:lstStyle/>
          <a:p>
            <a:pPr marL="291600" indent="-291600">
              <a:spcBef>
                <a:spcPts val="1000"/>
              </a:spcBef>
            </a:pPr>
            <a:r>
              <a:rPr lang="en-US" dirty="0">
                <a:latin typeface="Open Sans Regular"/>
                <a:ea typeface="MS Mincho"/>
                <a:cs typeface="Bank Gothic Bold"/>
              </a:rPr>
              <a:t>As another example, consider the following change in the tester’s program’s algorithm:</a:t>
            </a:r>
            <a:endParaRPr lang="en-US" dirty="0">
              <a:latin typeface="Open Sans Regular"/>
            </a:endParaRPr>
          </a:p>
        </p:txBody>
      </p:sp>
      <p:sp>
        <p:nvSpPr>
          <p:cNvPr id="5" name="Content Placeholder 4"/>
          <p:cNvSpPr>
            <a:spLocks noGrp="1"/>
          </p:cNvSpPr>
          <p:nvPr>
            <p:ph sz="quarter" idx="12"/>
          </p:nvPr>
        </p:nvSpPr>
        <p:spPr>
          <a:xfrm>
            <a:off x="628650" y="2503763"/>
            <a:ext cx="5043282" cy="931864"/>
          </a:xfrm>
        </p:spPr>
        <p:txBody>
          <a:bodyPr>
            <a:normAutofit fontScale="92500" lnSpcReduction="1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k</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latin typeface="Courier New" panose="02070309020205020404" pitchFamily="49" charset="0"/>
                <a:ea typeface="MS Mincho"/>
                <a:cs typeface="Bank Gothic Bold"/>
              </a:rPr>
              <a:t>        work</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work</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Content Placeholder 5"/>
          <p:cNvSpPr>
            <a:spLocks noGrp="1"/>
          </p:cNvSpPr>
          <p:nvPr>
            <p:ph sz="quarter" idx="13"/>
          </p:nvPr>
        </p:nvSpPr>
        <p:spPr>
          <a:xfrm>
            <a:off x="628650" y="3597966"/>
            <a:ext cx="7981950" cy="1447800"/>
          </a:xfrm>
        </p:spPr>
        <p:txBody>
          <a:bodyPr>
            <a:normAutofit/>
          </a:bodyPr>
          <a:lstStyle/>
          <a:p>
            <a:pPr marL="291600" indent="-291600">
              <a:spcBef>
                <a:spcPts val="1000"/>
              </a:spcBef>
            </a:pPr>
            <a:r>
              <a:rPr lang="en-US" dirty="0">
                <a:latin typeface="Open Sans Regular"/>
                <a:ea typeface="MS Mincho"/>
                <a:cs typeface="Bank Gothic Bold"/>
              </a:rPr>
              <a:t>The extended assignments have been moved into a nested loop:</a:t>
            </a:r>
          </a:p>
          <a:p>
            <a:pPr lvl="1">
              <a:spcBef>
                <a:spcPts val="1000"/>
              </a:spcBef>
            </a:pPr>
            <a:r>
              <a:rPr lang="en-US" dirty="0">
                <a:latin typeface="Open Sans Regular"/>
              </a:rPr>
              <a:t>Loop iterates through the size of the problem within another loop that also iterates through the size of the problem</a:t>
            </a:r>
          </a:p>
          <a:p>
            <a:pPr lvl="1">
              <a:spcBef>
                <a:spcPts val="1000"/>
              </a:spcBef>
            </a:pPr>
            <a:r>
              <a:rPr lang="en-US" dirty="0">
                <a:latin typeface="Open Sans Regular"/>
              </a:rPr>
              <a:t>The results are shown in Figure 3.2 on the following slide.</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1598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(5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3-2: </a:t>
            </a:r>
            <a:r>
              <a:rPr lang="en-IN" dirty="0"/>
              <a:t>The output of the second tester program</a:t>
            </a:r>
            <a:endParaRPr lang="en-US" dirty="0">
              <a:latin typeface="Open Sans Regular"/>
            </a:endParaRPr>
          </a:p>
        </p:txBody>
      </p:sp>
      <p:pic>
        <p:nvPicPr>
          <p:cNvPr id="7" name="Content Placeholder 6" descr="Program code. In the code, the words in the variable names are merged. Line 1: problem size, indented, seconds. Line 2: 1000, indented, 0.387. Line 3: 2000, indented, 1.581. Line 4: 4000, indented, 6. 463. Line 5: 8000, indented, 25.702. Line 6: 16000, indented, 102.666."/>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7659"/>
            <a:ext cx="4373419" cy="2617741"/>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44808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4"/>
          </a:xfrm>
        </p:spPr>
        <p:txBody>
          <a:bodyPr/>
          <a:lstStyle/>
          <a:p>
            <a:r>
              <a:rPr lang="en-US" b="1" dirty="0"/>
              <a:t>Measuring the Run Time of an Algorithm </a:t>
            </a:r>
            <a:r>
              <a:rPr lang="en-US" sz="2000" dirty="0"/>
              <a:t>(6 of 6)</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This method permits accurate predictions of running times of many algorithms with only two problems:</a:t>
            </a:r>
          </a:p>
          <a:p>
            <a:pPr lvl="1">
              <a:spcBef>
                <a:spcPts val="1000"/>
              </a:spcBef>
            </a:pPr>
            <a:r>
              <a:rPr lang="en-US" dirty="0"/>
              <a:t>Different hardware platforms have different processing speeds, so the running times of an algorithm differ from machine to machine</a:t>
            </a:r>
          </a:p>
          <a:p>
            <a:pPr lvl="1">
              <a:spcBef>
                <a:spcPts val="1000"/>
              </a:spcBef>
            </a:pPr>
            <a:r>
              <a:rPr lang="en-US" dirty="0"/>
              <a:t>It is impractical to determine the running time for some algorithms with very large data sets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43764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Counting Instructions </a:t>
            </a:r>
            <a:r>
              <a:rPr lang="en-US" sz="2000" dirty="0"/>
              <a:t>(1 of 3)</a:t>
            </a:r>
          </a:p>
        </p:txBody>
      </p:sp>
      <p:sp>
        <p:nvSpPr>
          <p:cNvPr id="3" name="Content Placeholder 2"/>
          <p:cNvSpPr>
            <a:spLocks noGrp="1"/>
          </p:cNvSpPr>
          <p:nvPr>
            <p:ph idx="1"/>
          </p:nvPr>
        </p:nvSpPr>
        <p:spPr>
          <a:xfrm>
            <a:off x="628650" y="1825625"/>
            <a:ext cx="7886700" cy="4194175"/>
          </a:xfrm>
        </p:spPr>
        <p:txBody>
          <a:bodyPr vert="horz" lIns="0" tIns="0" rIns="0" bIns="0" rtlCol="0" anchor="t">
            <a:normAutofit lnSpcReduction="10000"/>
          </a:bodyPr>
          <a:lstStyle/>
          <a:p>
            <a:pPr marL="291600" indent="-291600">
              <a:spcBef>
                <a:spcPts val="1000"/>
              </a:spcBef>
            </a:pPr>
            <a:r>
              <a:rPr lang="en-US" dirty="0"/>
              <a:t>Another technique to estimate efficiency of an algorithm</a:t>
            </a:r>
          </a:p>
          <a:p>
            <a:pPr lvl="1">
              <a:spcBef>
                <a:spcPts val="1000"/>
              </a:spcBef>
            </a:pPr>
            <a:r>
              <a:rPr lang="en-US" dirty="0"/>
              <a:t>Count the instructions executed with different problem sizes</a:t>
            </a:r>
          </a:p>
          <a:p>
            <a:pPr marL="291600" indent="-291600">
              <a:spcBef>
                <a:spcPts val="1000"/>
              </a:spcBef>
            </a:pPr>
            <a:r>
              <a:rPr lang="en-US" dirty="0"/>
              <a:t>When analyzing an algorithm this way, you distinguish between two classes of instructions:</a:t>
            </a:r>
          </a:p>
          <a:p>
            <a:pPr lvl="1">
              <a:spcBef>
                <a:spcPts val="1000"/>
              </a:spcBef>
            </a:pPr>
            <a:r>
              <a:rPr lang="en-US" dirty="0"/>
              <a:t>Instructions that execute the same number of times regardless of the problem size</a:t>
            </a:r>
          </a:p>
          <a:p>
            <a:pPr lvl="1">
              <a:spcBef>
                <a:spcPts val="1000"/>
              </a:spcBef>
            </a:pPr>
            <a:r>
              <a:rPr lang="en-US" dirty="0"/>
              <a:t>Instructions whose execution count varies with the problem size</a:t>
            </a:r>
          </a:p>
          <a:p>
            <a:pPr marL="291600" indent="-291600">
              <a:spcBef>
                <a:spcPts val="1000"/>
              </a:spcBef>
            </a:pPr>
            <a:r>
              <a:rPr lang="en-US" dirty="0"/>
              <a:t>For now, ignore the instructions in the first class:</a:t>
            </a:r>
          </a:p>
          <a:p>
            <a:pPr lvl="1">
              <a:spcBef>
                <a:spcPts val="1000"/>
              </a:spcBef>
            </a:pPr>
            <a:r>
              <a:rPr lang="en-US" dirty="0"/>
              <a:t>They do not figure significantly in this kind of analysis</a:t>
            </a:r>
          </a:p>
          <a:p>
            <a:pPr marL="291600" indent="-291600">
              <a:spcBef>
                <a:spcPts val="1000"/>
              </a:spcBef>
            </a:pPr>
            <a:r>
              <a:rPr lang="en-US" dirty="0"/>
              <a:t>The instructions in the second class normally are found in loops or recursive functions:</a:t>
            </a:r>
          </a:p>
          <a:p>
            <a:pPr lvl="1">
              <a:spcBef>
                <a:spcPts val="1000"/>
              </a:spcBef>
            </a:pPr>
            <a:r>
              <a:rPr lang="en-US" dirty="0"/>
              <a:t>In the case of loops, zero in on instructions performed in any nested loops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3744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 </a:t>
            </a:r>
            <a:r>
              <a:rPr lang="en-US" sz="2000" dirty="0"/>
              <a:t>(2 of 3)</a:t>
            </a:r>
          </a:p>
        </p:txBody>
      </p:sp>
      <p:sp>
        <p:nvSpPr>
          <p:cNvPr id="3" name="Content Placeholder 2"/>
          <p:cNvSpPr>
            <a:spLocks noGrp="1"/>
          </p:cNvSpPr>
          <p:nvPr>
            <p:ph idx="1"/>
          </p:nvPr>
        </p:nvSpPr>
        <p:spPr>
          <a:xfrm>
            <a:off x="628650" y="1825625"/>
            <a:ext cx="7886700" cy="4194175"/>
          </a:xfrm>
        </p:spPr>
        <p:txBody>
          <a:bodyPr>
            <a:normAutofit fontScale="775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counting.py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nested</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"%12s%15s"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j</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k</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"%12d%15d"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number))</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1941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a:t>
            </a:r>
            <a:r>
              <a:rPr lang="en-US" dirty="0"/>
              <a:t> </a:t>
            </a:r>
            <a:r>
              <a:rPr lang="en-US" sz="2000" dirty="0"/>
              <a:t>(3 of 3)</a:t>
            </a:r>
          </a:p>
        </p:txBody>
      </p:sp>
      <p:sp>
        <p:nvSpPr>
          <p:cNvPr id="3" name="Content Placeholder 2"/>
          <p:cNvSpPr>
            <a:spLocks noGrp="1"/>
          </p:cNvSpPr>
          <p:nvPr>
            <p:ph idx="1"/>
          </p:nvPr>
        </p:nvSpPr>
        <p:spPr>
          <a:xfrm>
            <a:off x="628650" y="1825625"/>
            <a:ext cx="7886700" cy="460375"/>
          </a:xfrm>
        </p:spPr>
        <p:txBody>
          <a:bodyPr>
            <a:normAutofit/>
          </a:bodyPr>
          <a:lstStyle/>
          <a:p>
            <a:pPr marL="0" indent="0">
              <a:spcBef>
                <a:spcPts val="1000"/>
              </a:spcBef>
              <a:buNone/>
            </a:pPr>
            <a:r>
              <a:rPr lang="en-IN" b="1" dirty="0"/>
              <a:t>Figure 3-3: </a:t>
            </a:r>
            <a:r>
              <a:rPr lang="en-IN" dirty="0"/>
              <a:t>The output of a tester program that counts iterations</a:t>
            </a:r>
            <a:endParaRPr lang="en-US" dirty="0">
              <a:latin typeface="Open Sans"/>
            </a:endParaRPr>
          </a:p>
        </p:txBody>
      </p:sp>
      <p:pic>
        <p:nvPicPr>
          <p:cNvPr id="7" name="Content Placeholder 6" descr="Program code. In the code, the words in the variable names are merged. Line 1: problem size, indented, iterations. Line 2: 1000, indented, 1000000. Line 3: 2000, indented, 4000000. Line 4: 4000, indented, 16000000. Line 5: 8000, indented, 64000000. Line 6: 16000, indented, 256000000."/>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590800"/>
            <a:ext cx="3919964" cy="2346325"/>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85276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Complexity Analysis</a:t>
            </a:r>
          </a:p>
        </p:txBody>
      </p:sp>
      <p:sp>
        <p:nvSpPr>
          <p:cNvPr id="3" name="Content Placeholder 2"/>
          <p:cNvSpPr>
            <a:spLocks noGrp="1"/>
          </p:cNvSpPr>
          <p:nvPr>
            <p:ph idx="1"/>
          </p:nvPr>
        </p:nvSpPr>
        <p:spPr>
          <a:xfrm>
            <a:off x="628650" y="1825625"/>
            <a:ext cx="7886700" cy="2517775"/>
          </a:xfrm>
        </p:spPr>
        <p:txBody>
          <a:bodyPr/>
          <a:lstStyle/>
          <a:p>
            <a:pPr marL="291600" indent="-291600">
              <a:spcBef>
                <a:spcPts val="1000"/>
              </a:spcBef>
            </a:pPr>
            <a:r>
              <a:rPr lang="en-US" dirty="0"/>
              <a:t>This section focuses on developing a method of determining the efficiency of algorithms that allows you to rate them </a:t>
            </a:r>
          </a:p>
          <a:p>
            <a:pPr lvl="1">
              <a:spcBef>
                <a:spcPts val="1000"/>
              </a:spcBef>
            </a:pPr>
            <a:r>
              <a:rPr lang="en-US" dirty="0"/>
              <a:t>Independently of platform-dependent timings or impractical instruction counts</a:t>
            </a:r>
          </a:p>
          <a:p>
            <a:pPr marL="291600" indent="-291600">
              <a:spcBef>
                <a:spcPts val="1000"/>
              </a:spcBef>
            </a:pPr>
            <a:r>
              <a:rPr lang="en-US" dirty="0"/>
              <a:t>This method is called complexity analysis:</a:t>
            </a:r>
          </a:p>
          <a:p>
            <a:pPr lvl="1">
              <a:spcBef>
                <a:spcPts val="1000"/>
              </a:spcBef>
            </a:pPr>
            <a:r>
              <a:rPr lang="en-US" dirty="0"/>
              <a:t>Entails reading the algorithm and using pencil and paper to work out some simple algebra</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0777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(1 of 5)</a:t>
            </a:r>
          </a:p>
        </p:txBody>
      </p:sp>
      <p:sp>
        <p:nvSpPr>
          <p:cNvPr id="3" name="Content Placeholder 2"/>
          <p:cNvSpPr>
            <a:spLocks noGrp="1"/>
          </p:cNvSpPr>
          <p:nvPr>
            <p:ph idx="1"/>
          </p:nvPr>
        </p:nvSpPr>
        <p:spPr>
          <a:xfrm>
            <a:off x="628650" y="1825625"/>
            <a:ext cx="7886700" cy="765175"/>
          </a:xfrm>
        </p:spPr>
        <p:txBody>
          <a:bodyPr>
            <a:normAutofit/>
          </a:bodyPr>
          <a:lstStyle/>
          <a:p>
            <a:pPr marL="0" indent="0">
              <a:spcBef>
                <a:spcPts val="1000"/>
              </a:spcBef>
              <a:buNone/>
            </a:pPr>
            <a:r>
              <a:rPr lang="en-IN" b="1" dirty="0"/>
              <a:t>Figure 3-5: </a:t>
            </a:r>
            <a:r>
              <a:rPr lang="en-IN" dirty="0"/>
              <a:t>A graph of the amounts of work done in the tester programs</a:t>
            </a:r>
            <a:endParaRPr lang="en-US" dirty="0"/>
          </a:p>
        </p:txBody>
      </p:sp>
      <p:pic>
        <p:nvPicPr>
          <p:cNvPr id="7" name="Content Placeholder 6" descr="Graph shows amounts of work done in tester programs. The graph is plotted for problem size versus operations. The graph shows two curves labeled n and n squared. N is a linear line with a positive slope rising from the origin. N squared is a curve that rises upwards from the origin. The slope of n squared is significantly steeper than n."/>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142005" y="2903164"/>
            <a:ext cx="2555318" cy="2745609"/>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61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a:t>
            </a:r>
            <a:r>
              <a:rPr lang="en-US" dirty="0"/>
              <a:t> </a:t>
            </a:r>
            <a:r>
              <a:rPr lang="en-US" sz="2000" dirty="0"/>
              <a:t>(2 of 5)</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US" dirty="0"/>
              <a:t>Table 3.1 The Amounts of Work in the Tester Programs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725897108"/>
              </p:ext>
            </p:extLst>
          </p:nvPr>
        </p:nvGraphicFramePr>
        <p:xfrm>
          <a:off x="990600" y="2956560"/>
          <a:ext cx="6248400" cy="161544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3287772969"/>
                    </a:ext>
                  </a:extLst>
                </a:gridCol>
                <a:gridCol w="2082800">
                  <a:extLst>
                    <a:ext uri="{9D8B030D-6E8A-4147-A177-3AD203B41FA5}">
                      <a16:colId xmlns:a16="http://schemas.microsoft.com/office/drawing/2014/main" val="224874146"/>
                    </a:ext>
                  </a:extLst>
                </a:gridCol>
                <a:gridCol w="2082800">
                  <a:extLst>
                    <a:ext uri="{9D8B030D-6E8A-4147-A177-3AD203B41FA5}">
                      <a16:colId xmlns:a16="http://schemas.microsoft.com/office/drawing/2014/main" val="678383720"/>
                    </a:ext>
                  </a:extLst>
                </a:gridCol>
              </a:tblGrid>
              <a:tr h="370840">
                <a:tc>
                  <a:txBody>
                    <a:bodyPr/>
                    <a:lstStyle/>
                    <a:p>
                      <a:r>
                        <a:rPr lang="en-US" dirty="0">
                          <a:solidFill>
                            <a:schemeClr val="bg2">
                              <a:lumMod val="10000"/>
                            </a:schemeClr>
                          </a:solidFill>
                          <a:latin typeface="Open Sans" panose="020B0606030504020204"/>
                        </a:rPr>
                        <a:t>Problem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First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Second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279690"/>
                  </a:ext>
                </a:extLst>
              </a:tr>
              <a:tr h="370840">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743292"/>
                  </a:ext>
                </a:extLst>
              </a:tr>
              <a:tr h="370840">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209363"/>
                  </a:ext>
                </a:extLst>
              </a:tr>
              <a:tr h="370840">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96334"/>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8961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Orders of Complexity</a:t>
            </a:r>
            <a:r>
              <a:rPr lang="en-US" dirty="0"/>
              <a:t> </a:t>
            </a:r>
            <a:r>
              <a:rPr lang="en-US" sz="2000" dirty="0"/>
              <a:t>(3 of 5)</a:t>
            </a:r>
            <a:endParaRPr lang="en-IN" dirty="0"/>
          </a:p>
        </p:txBody>
      </p:sp>
      <p:sp>
        <p:nvSpPr>
          <p:cNvPr id="3" name="Content Placeholder 2"/>
          <p:cNvSpPr>
            <a:spLocks noGrp="1"/>
          </p:cNvSpPr>
          <p:nvPr>
            <p:ph idx="1"/>
          </p:nvPr>
        </p:nvSpPr>
        <p:spPr>
          <a:xfrm>
            <a:off x="650773" y="2012820"/>
            <a:ext cx="8210550" cy="3782959"/>
          </a:xfrm>
        </p:spPr>
        <p:txBody>
          <a:bodyPr>
            <a:normAutofit fontScale="92500"/>
          </a:bodyPr>
          <a:lstStyle/>
          <a:p>
            <a:pPr marL="291600" indent="-291600">
              <a:lnSpc>
                <a:spcPct val="100000"/>
              </a:lnSpc>
              <a:spcBef>
                <a:spcPts val="1000"/>
              </a:spcBef>
            </a:pPr>
            <a:r>
              <a:rPr lang="en-US" dirty="0"/>
              <a:t>Performances of these algorithms differ by an order of complexity:</a:t>
            </a:r>
          </a:p>
          <a:p>
            <a:pPr lvl="1">
              <a:lnSpc>
                <a:spcPct val="100000"/>
              </a:lnSpc>
              <a:spcBef>
                <a:spcPts val="1000"/>
              </a:spcBef>
              <a:buClr>
                <a:schemeClr val="tx1"/>
              </a:buClr>
              <a:buFont typeface="Arial" panose="020B0604020202020204" pitchFamily="34" charset="0"/>
              <a:buChar char="•"/>
            </a:pPr>
            <a:r>
              <a:rPr lang="en-US" dirty="0"/>
              <a:t>First algorithm is linear – work grows in direct proportion to the size of the problem</a:t>
            </a:r>
          </a:p>
          <a:p>
            <a:pPr lvl="1">
              <a:lnSpc>
                <a:spcPct val="100000"/>
              </a:lnSpc>
              <a:spcBef>
                <a:spcPts val="1000"/>
              </a:spcBef>
              <a:buClr>
                <a:schemeClr val="tx1"/>
              </a:buClr>
              <a:buFont typeface="Arial" panose="020B0604020202020204" pitchFamily="34" charset="0"/>
              <a:buChar char="•"/>
            </a:pPr>
            <a:r>
              <a:rPr lang="en-US" dirty="0"/>
              <a:t>Second algorithm is quadratic – work grows as a function of the square of the problem size</a:t>
            </a:r>
          </a:p>
          <a:p>
            <a:pPr marL="291600" indent="-291600">
              <a:lnSpc>
                <a:spcPct val="100000"/>
              </a:lnSpc>
              <a:spcBef>
                <a:spcPts val="1000"/>
              </a:spcBef>
            </a:pPr>
            <a:r>
              <a:rPr lang="en-US" dirty="0"/>
              <a:t>Other orders:</a:t>
            </a:r>
          </a:p>
          <a:p>
            <a:pPr lvl="1">
              <a:lnSpc>
                <a:spcPct val="100000"/>
              </a:lnSpc>
              <a:spcBef>
                <a:spcPts val="1000"/>
              </a:spcBef>
              <a:buClr>
                <a:schemeClr val="tx1"/>
              </a:buClr>
              <a:buFont typeface="Arial" panose="020B0604020202020204" pitchFamily="34" charset="0"/>
              <a:buChar char="•"/>
            </a:pPr>
            <a:r>
              <a:rPr lang="en-US" dirty="0"/>
              <a:t>Constant – requires the same number of operations for any problem size</a:t>
            </a:r>
          </a:p>
          <a:p>
            <a:pPr lvl="1">
              <a:lnSpc>
                <a:spcPct val="100000"/>
              </a:lnSpc>
              <a:spcBef>
                <a:spcPts val="1000"/>
              </a:spcBef>
              <a:buClr>
                <a:schemeClr val="tx1"/>
              </a:buClr>
              <a:buFont typeface="Arial" panose="020B0604020202020204" pitchFamily="34" charset="0"/>
              <a:buChar char="•"/>
            </a:pPr>
            <a:r>
              <a:rPr lang="en-US" dirty="0"/>
              <a:t>Logarithmic – amount of work is proportional to the log</a:t>
            </a:r>
            <a:r>
              <a:rPr lang="en-US" baseline="-25000" dirty="0"/>
              <a:t>2 </a:t>
            </a:r>
            <a:r>
              <a:rPr lang="en-US" dirty="0"/>
              <a:t> of the problem size</a:t>
            </a:r>
          </a:p>
          <a:p>
            <a:pPr lvl="1">
              <a:lnSpc>
                <a:spcPct val="100000"/>
              </a:lnSpc>
              <a:spcBef>
                <a:spcPts val="1000"/>
              </a:spcBef>
              <a:buClr>
                <a:schemeClr val="tx1"/>
              </a:buClr>
              <a:buFont typeface="Arial" panose="020B0604020202020204" pitchFamily="34" charset="0"/>
              <a:buChar char="•"/>
            </a:pPr>
            <a:r>
              <a:rPr lang="en-US" dirty="0"/>
              <a:t>Polynomial time – grows at a rate of</a:t>
            </a:r>
            <a:endParaRPr lang="en-IN" dirty="0"/>
          </a:p>
        </p:txBody>
      </p:sp>
      <p:graphicFrame>
        <p:nvGraphicFramePr>
          <p:cNvPr id="19" name="Content Placeholder 8" descr="n to the power k,"/>
          <p:cNvGraphicFramePr>
            <a:graphicFrameLocks noGrp="1" noChangeAspect="1"/>
          </p:cNvGraphicFramePr>
          <p:nvPr>
            <p:ph idx="12"/>
            <p:extLst>
              <p:ext uri="{D42A27DB-BD31-4B8C-83A1-F6EECF244321}">
                <p14:modId xmlns:p14="http://schemas.microsoft.com/office/powerpoint/2010/main" val="74267545"/>
              </p:ext>
            </p:extLst>
          </p:nvPr>
        </p:nvGraphicFramePr>
        <p:xfrm>
          <a:off x="4788683" y="4825691"/>
          <a:ext cx="392917" cy="372242"/>
        </p:xfrm>
        <a:graphic>
          <a:graphicData uri="http://schemas.openxmlformats.org/presentationml/2006/ole">
            <mc:AlternateContent xmlns:mc="http://schemas.openxmlformats.org/markup-compatibility/2006">
              <mc:Choice xmlns:v="urn:schemas-microsoft-com:vml" Requires="v">
                <p:oleObj spid="_x0000_s9278" name="Equation" r:id="rId4" imgW="241200" imgH="228600" progId="Equation.DSMT4">
                  <p:embed/>
                </p:oleObj>
              </mc:Choice>
              <mc:Fallback>
                <p:oleObj name="Equation" r:id="rId4" imgW="241200" imgH="228600" progId="Equation.DSMT4">
                  <p:embed/>
                  <p:pic>
                    <p:nvPicPr>
                      <p:cNvPr id="9" name="Content Placeholder 8" descr="n to the power k,"/>
                      <p:cNvPicPr/>
                      <p:nvPr/>
                    </p:nvPicPr>
                    <p:blipFill>
                      <a:blip r:embed="rId5"/>
                      <a:stretch>
                        <a:fillRect/>
                      </a:stretch>
                    </p:blipFill>
                    <p:spPr>
                      <a:xfrm>
                        <a:off x="4788683" y="4825691"/>
                        <a:ext cx="392917" cy="372242"/>
                      </a:xfrm>
                      <a:prstGeom prst="rect">
                        <a:avLst/>
                      </a:prstGeom>
                    </p:spPr>
                  </p:pic>
                </p:oleObj>
              </mc:Fallback>
            </mc:AlternateContent>
          </a:graphicData>
        </a:graphic>
      </p:graphicFrame>
      <p:sp>
        <p:nvSpPr>
          <p:cNvPr id="6" name="Content Placeholder 5"/>
          <p:cNvSpPr>
            <a:spLocks noGrp="1"/>
          </p:cNvSpPr>
          <p:nvPr>
            <p:ph idx="13"/>
          </p:nvPr>
        </p:nvSpPr>
        <p:spPr>
          <a:xfrm>
            <a:off x="5105400" y="4899693"/>
            <a:ext cx="3886200" cy="240880"/>
          </a:xfrm>
        </p:spPr>
        <p:txBody>
          <a:bodyPr>
            <a:noAutofit/>
          </a:bodyPr>
          <a:lstStyle/>
          <a:p>
            <a:pPr marL="0" indent="0">
              <a:buNone/>
            </a:pPr>
            <a:r>
              <a:rPr lang="en-US" sz="1800" dirty="0"/>
              <a:t>where </a:t>
            </a:r>
            <a:r>
              <a:rPr lang="en-US" sz="1800" i="1" dirty="0"/>
              <a:t>k </a:t>
            </a:r>
            <a:r>
              <a:rPr lang="en-US" sz="1800" dirty="0"/>
              <a:t>is a constant greater than 1</a:t>
            </a:r>
            <a:endParaRPr lang="en-IN" sz="1800" dirty="0"/>
          </a:p>
        </p:txBody>
      </p:sp>
      <p:sp>
        <p:nvSpPr>
          <p:cNvPr id="7" name="Content Placeholder 6"/>
          <p:cNvSpPr>
            <a:spLocks noGrp="1"/>
          </p:cNvSpPr>
          <p:nvPr>
            <p:ph idx="14"/>
          </p:nvPr>
        </p:nvSpPr>
        <p:spPr>
          <a:xfrm>
            <a:off x="618947" y="5305434"/>
            <a:ext cx="6132886" cy="240880"/>
          </a:xfrm>
        </p:spPr>
        <p:txBody>
          <a:bodyPr>
            <a:noAutofit/>
          </a:bodyPr>
          <a:lstStyle/>
          <a:p>
            <a:pPr marL="514800">
              <a:buClr>
                <a:schemeClr val="tx1"/>
              </a:buClr>
              <a:buFont typeface="Arial" panose="020B0604020202020204" pitchFamily="34" charset="0"/>
              <a:buChar char="•"/>
            </a:pPr>
            <a:r>
              <a:rPr lang="en-US" sz="1800" dirty="0"/>
              <a:t>Exponential – example rate of growth of this order is</a:t>
            </a:r>
            <a:endParaRPr lang="en-IN" sz="1800" dirty="0"/>
          </a:p>
        </p:txBody>
      </p:sp>
      <p:graphicFrame>
        <p:nvGraphicFramePr>
          <p:cNvPr id="20" name="Content Placeholder 8" descr="2 to the power k"/>
          <p:cNvGraphicFramePr>
            <a:graphicFrameLocks noGrp="1" noChangeAspect="1"/>
          </p:cNvGraphicFramePr>
          <p:nvPr>
            <p:ph idx="15"/>
            <p:extLst>
              <p:ext uri="{D42A27DB-BD31-4B8C-83A1-F6EECF244321}">
                <p14:modId xmlns:p14="http://schemas.microsoft.com/office/powerpoint/2010/main" val="1423471168"/>
              </p:ext>
            </p:extLst>
          </p:nvPr>
        </p:nvGraphicFramePr>
        <p:xfrm>
          <a:off x="6705600" y="5249301"/>
          <a:ext cx="313299" cy="313299"/>
        </p:xfrm>
        <a:graphic>
          <a:graphicData uri="http://schemas.openxmlformats.org/presentationml/2006/ole">
            <mc:AlternateContent xmlns:mc="http://schemas.openxmlformats.org/markup-compatibility/2006">
              <mc:Choice xmlns:v="urn:schemas-microsoft-com:vml" Requires="v">
                <p:oleObj spid="_x0000_s9279" name="Equation" r:id="rId6" imgW="190440" imgH="190440" progId="Equation.DSMT4">
                  <p:embed/>
                </p:oleObj>
              </mc:Choice>
              <mc:Fallback>
                <p:oleObj name="Equation" r:id="rId6" imgW="190440" imgH="190440" progId="Equation.DSMT4">
                  <p:embed/>
                  <p:pic>
                    <p:nvPicPr>
                      <p:cNvPr id="10" name="Content Placeholder 8" descr="2 to the power k"/>
                      <p:cNvPicPr/>
                      <p:nvPr/>
                    </p:nvPicPr>
                    <p:blipFill>
                      <a:blip r:embed="rId7"/>
                      <a:stretch>
                        <a:fillRect/>
                      </a:stretch>
                    </p:blipFill>
                    <p:spPr>
                      <a:xfrm>
                        <a:off x="6705600" y="5249301"/>
                        <a:ext cx="313299" cy="313299"/>
                      </a:xfrm>
                      <a:prstGeom prst="rect">
                        <a:avLst/>
                      </a:prstGeom>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9328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(4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3-6: </a:t>
            </a:r>
            <a:r>
              <a:rPr lang="en-IN" dirty="0"/>
              <a:t>A graph of some sample orders of complexity</a:t>
            </a:r>
            <a:endParaRPr lang="en-US" dirty="0"/>
          </a:p>
        </p:txBody>
      </p:sp>
      <p:pic>
        <p:nvPicPr>
          <p:cNvPr id="7" name="Content Placeholder 6" descr="Graph shows sample orders of complexity. The graph is plotted for problem size versus operations. The graph shows four curves labeled logarithmic n, n, n squared and 2 to the power of n. Logarithmic n is a curve that rises upwards from the origin but descends. N is a linear line with a positive slope rising from the origin.  N squared is a curve that rises upwards from the origin. The slope of n squared is significantly steeper than n. The curve 2 to the power of n also rises upwards from the origin and is steeper than n squ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497585" y="2480448"/>
            <a:ext cx="3300772" cy="3158352"/>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233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 </a:t>
            </a:r>
            <a:r>
              <a:rPr lang="en-US" sz="2000" dirty="0"/>
              <a:t>(5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US" dirty="0"/>
              <a:t>Table 3.2 Some Sample Orders of Complexity</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430487005"/>
              </p:ext>
            </p:extLst>
          </p:nvPr>
        </p:nvGraphicFramePr>
        <p:xfrm>
          <a:off x="628650" y="2895600"/>
          <a:ext cx="8058150" cy="1615440"/>
        </p:xfrm>
        <a:graphic>
          <a:graphicData uri="http://schemas.openxmlformats.org/drawingml/2006/table">
            <a:tbl>
              <a:tblPr firstRow="1" bandRow="1">
                <a:tableStyleId>{5C22544A-7EE6-4342-B048-85BDC9FD1C3A}</a:tableStyleId>
              </a:tblPr>
              <a:tblGrid>
                <a:gridCol w="1459230">
                  <a:extLst>
                    <a:ext uri="{9D8B030D-6E8A-4147-A177-3AD203B41FA5}">
                      <a16:colId xmlns:a16="http://schemas.microsoft.com/office/drawing/2014/main" val="2918737820"/>
                    </a:ext>
                  </a:extLst>
                </a:gridCol>
                <a:gridCol w="1459230">
                  <a:extLst>
                    <a:ext uri="{9D8B030D-6E8A-4147-A177-3AD203B41FA5}">
                      <a16:colId xmlns:a16="http://schemas.microsoft.com/office/drawing/2014/main" val="2539887140"/>
                    </a:ext>
                  </a:extLst>
                </a:gridCol>
                <a:gridCol w="1459230">
                  <a:extLst>
                    <a:ext uri="{9D8B030D-6E8A-4147-A177-3AD203B41FA5}">
                      <a16:colId xmlns:a16="http://schemas.microsoft.com/office/drawing/2014/main" val="721219449"/>
                    </a:ext>
                  </a:extLst>
                </a:gridCol>
                <a:gridCol w="1699260">
                  <a:extLst>
                    <a:ext uri="{9D8B030D-6E8A-4147-A177-3AD203B41FA5}">
                      <a16:colId xmlns:a16="http://schemas.microsoft.com/office/drawing/2014/main" val="4235349425"/>
                    </a:ext>
                  </a:extLst>
                </a:gridCol>
                <a:gridCol w="1981200">
                  <a:extLst>
                    <a:ext uri="{9D8B030D-6E8A-4147-A177-3AD203B41FA5}">
                      <a16:colId xmlns:a16="http://schemas.microsoft.com/office/drawing/2014/main" val="3933839831"/>
                    </a:ext>
                  </a:extLst>
                </a:gridCol>
              </a:tblGrid>
              <a:tr h="370840">
                <a:tc>
                  <a:txBody>
                    <a:bodyPr/>
                    <a:lstStyle/>
                    <a:p>
                      <a:pPr algn="l"/>
                      <a:r>
                        <a:rPr lang="en-US" i="1" dirty="0">
                          <a:solidFill>
                            <a:schemeClr val="bg2">
                              <a:lumMod val="10000"/>
                            </a:schemeClr>
                          </a:solidFill>
                          <a:latin typeface="Open Sans" panose="020B0606030504020204"/>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Logarithmic (</a:t>
                      </a:r>
                      <a:r>
                        <a:rPr lang="en-US" sz="1350" b="1" i="0" kern="1200" dirty="0">
                          <a:solidFill>
                            <a:schemeClr val="bg2">
                              <a:lumMod val="10000"/>
                            </a:schemeClr>
                          </a:solidFill>
                          <a:effectLst/>
                          <a:latin typeface="Open Sans" panose="020B0606030504020204"/>
                          <a:ea typeface="+mn-ea"/>
                          <a:cs typeface="+mn-cs"/>
                        </a:rPr>
                        <a:t>log</a:t>
                      </a:r>
                      <a:r>
                        <a:rPr lang="en-US" sz="1350" b="1" i="0" kern="1200" baseline="-25000" dirty="0">
                          <a:solidFill>
                            <a:schemeClr val="bg2">
                              <a:lumMod val="10000"/>
                            </a:schemeClr>
                          </a:solidFill>
                          <a:effectLst/>
                          <a:latin typeface="Open Sans" panose="020B0606030504020204"/>
                          <a:ea typeface="+mn-ea"/>
                          <a:cs typeface="+mn-cs"/>
                        </a:rPr>
                        <a:t>2</a:t>
                      </a:r>
                      <a:r>
                        <a:rPr lang="en-US" sz="1350" b="1" i="1" kern="1200" dirty="0">
                          <a:solidFill>
                            <a:schemeClr val="bg2">
                              <a:lumMod val="10000"/>
                            </a:schemeClr>
                          </a:solidFill>
                          <a:effectLst/>
                          <a:latin typeface="Open Sans" panose="020B0606030504020204"/>
                          <a:ea typeface="+mn-ea"/>
                          <a:cs typeface="+mn-cs"/>
                        </a:rPr>
                        <a:t>n)</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Linear (</a:t>
                      </a:r>
                      <a:r>
                        <a:rPr lang="en-US" i="1" dirty="0">
                          <a:solidFill>
                            <a:schemeClr val="bg2">
                              <a:lumMod val="10000"/>
                            </a:schemeClr>
                          </a:solidFill>
                          <a:latin typeface="Open Sans" panose="020B0606030504020204"/>
                        </a:rPr>
                        <a:t>n</a:t>
                      </a:r>
                      <a:r>
                        <a:rPr lang="en-US" dirty="0">
                          <a:solidFill>
                            <a:schemeClr val="bg2">
                              <a:lumMod val="10000"/>
                            </a:schemeClr>
                          </a:solidFill>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Quadratic </a:t>
                      </a:r>
                      <a:r>
                        <a:rPr lang="en-US" sz="800" b="1" i="1" kern="1200" dirty="0">
                          <a:solidFill>
                            <a:srgbClr val="0098D4"/>
                          </a:solidFill>
                          <a:effectLst/>
                          <a:latin typeface="Open Sans" panose="020B0606030504020204"/>
                          <a:ea typeface="+mn-ea"/>
                          <a:cs typeface="+mn-cs"/>
                        </a:rPr>
                        <a:t>(n squared)</a:t>
                      </a:r>
                      <a:endParaRPr lang="en-US" sz="8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Exponential </a:t>
                      </a:r>
                      <a:r>
                        <a:rPr lang="en-US" sz="400" b="1" i="1" kern="1200" dirty="0">
                          <a:solidFill>
                            <a:srgbClr val="0098D4"/>
                          </a:solidFill>
                          <a:effectLst/>
                          <a:latin typeface="Open Sans" panose="020B0606030504020204"/>
                          <a:ea typeface="+mn-ea"/>
                          <a:cs typeface="+mn-cs"/>
                        </a:rPr>
                        <a:t>(2 to the power n)</a:t>
                      </a:r>
                      <a:endParaRPr lang="en-US" sz="4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089418"/>
                  </a:ext>
                </a:extLst>
              </a:tr>
              <a:tr h="370840">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955558"/>
                  </a:ext>
                </a:extLst>
              </a:tr>
              <a:tr h="370840">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5629773"/>
                  </a:ext>
                </a:extLst>
              </a:tr>
              <a:tr h="370840">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Really off</a:t>
                      </a:r>
                      <a:r>
                        <a:rPr lang="en-US" baseline="0" dirty="0">
                          <a:latin typeface="Open Sans" panose="020B0606030504020204"/>
                        </a:rPr>
                        <a:t> the chart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5255129"/>
                  </a:ext>
                </a:extLst>
              </a:tr>
            </a:tbl>
          </a:graphicData>
        </a:graphic>
      </p:graphicFrame>
      <p:graphicFrame>
        <p:nvGraphicFramePr>
          <p:cNvPr id="6" name="Content Placeholder 8" descr="Image description is in table cell"/>
          <p:cNvGraphicFramePr>
            <a:graphicFrameLocks noGrp="1" noChangeAspect="1"/>
          </p:cNvGraphicFramePr>
          <p:nvPr>
            <p:ph idx="1"/>
            <p:extLst>
              <p:ext uri="{D42A27DB-BD31-4B8C-83A1-F6EECF244321}">
                <p14:modId xmlns:p14="http://schemas.microsoft.com/office/powerpoint/2010/main" val="300756194"/>
              </p:ext>
            </p:extLst>
          </p:nvPr>
        </p:nvGraphicFramePr>
        <p:xfrm>
          <a:off x="5979627" y="3007785"/>
          <a:ext cx="379125" cy="320216"/>
        </p:xfrm>
        <a:graphic>
          <a:graphicData uri="http://schemas.openxmlformats.org/presentationml/2006/ole">
            <mc:AlternateContent xmlns:mc="http://schemas.openxmlformats.org/markup-compatibility/2006">
              <mc:Choice xmlns:v="urn:schemas-microsoft-com:vml" Requires="v">
                <p:oleObj spid="_x0000_s8328" name="Equation" r:id="rId4" imgW="330120" imgH="279360" progId="Equation.DSMT4">
                  <p:embed/>
                </p:oleObj>
              </mc:Choice>
              <mc:Fallback>
                <p:oleObj name="Equation" r:id="rId4" imgW="330120" imgH="279360" progId="Equation.DSMT4">
                  <p:embed/>
                  <p:pic>
                    <p:nvPicPr>
                      <p:cNvPr id="9" name="Content Placeholder 8" descr="n to the power k,"/>
                      <p:cNvPicPr/>
                      <p:nvPr/>
                    </p:nvPicPr>
                    <p:blipFill>
                      <a:blip r:embed="rId5"/>
                      <a:stretch>
                        <a:fillRect/>
                      </a:stretch>
                    </p:blipFill>
                    <p:spPr>
                      <a:xfrm>
                        <a:off x="5979627" y="3007785"/>
                        <a:ext cx="379125" cy="320216"/>
                      </a:xfrm>
                      <a:prstGeom prst="rect">
                        <a:avLst/>
                      </a:prstGeom>
                    </p:spPr>
                  </p:pic>
                </p:oleObj>
              </mc:Fallback>
            </mc:AlternateContent>
          </a:graphicData>
        </a:graphic>
      </p:graphicFrame>
      <p:graphicFrame>
        <p:nvGraphicFramePr>
          <p:cNvPr id="7" name="Content Placeholder 8" descr="Image description is in table cell"/>
          <p:cNvGraphicFramePr>
            <a:graphicFrameLocks noGrp="1" noChangeAspect="1"/>
          </p:cNvGraphicFramePr>
          <p:nvPr>
            <p:ph idx="4294967295"/>
            <p:extLst>
              <p:ext uri="{D42A27DB-BD31-4B8C-83A1-F6EECF244321}">
                <p14:modId xmlns:p14="http://schemas.microsoft.com/office/powerpoint/2010/main" val="2539530702"/>
              </p:ext>
            </p:extLst>
          </p:nvPr>
        </p:nvGraphicFramePr>
        <p:xfrm>
          <a:off x="7977845" y="3012304"/>
          <a:ext cx="333355" cy="293422"/>
        </p:xfrm>
        <a:graphic>
          <a:graphicData uri="http://schemas.openxmlformats.org/presentationml/2006/ole">
            <mc:AlternateContent xmlns:mc="http://schemas.openxmlformats.org/markup-compatibility/2006">
              <mc:Choice xmlns:v="urn:schemas-microsoft-com:vml" Requires="v">
                <p:oleObj spid="_x0000_s8329" name="Equation" r:id="rId6" imgW="317160" imgH="279360" progId="Equation.DSMT4">
                  <p:embed/>
                </p:oleObj>
              </mc:Choice>
              <mc:Fallback>
                <p:oleObj name="Equation" r:id="rId6" imgW="317160" imgH="279360" progId="Equation.DSMT4">
                  <p:embed/>
                  <p:pic>
                    <p:nvPicPr>
                      <p:cNvPr id="10" name="Content Placeholder 8" descr="2 to the power k"/>
                      <p:cNvPicPr/>
                      <p:nvPr/>
                    </p:nvPicPr>
                    <p:blipFill>
                      <a:blip r:embed="rId7"/>
                      <a:stretch>
                        <a:fillRect/>
                      </a:stretch>
                    </p:blipFill>
                    <p:spPr>
                      <a:xfrm>
                        <a:off x="7977845" y="3012304"/>
                        <a:ext cx="333355" cy="293422"/>
                      </a:xfrm>
                      <a:prstGeom prst="rect">
                        <a:avLst/>
                      </a:prstGeom>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28234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04793"/>
          </a:xfrm>
        </p:spPr>
        <p:txBody>
          <a:bodyPr/>
          <a:lstStyle/>
          <a:p>
            <a:r>
              <a:rPr lang="en-US" b="1" dirty="0"/>
              <a:t>Big-O-Notation</a:t>
            </a:r>
            <a:r>
              <a:rPr lang="en-US" dirty="0"/>
              <a:t> </a:t>
            </a:r>
            <a:r>
              <a:rPr lang="en-US" sz="2000" dirty="0"/>
              <a:t>(1 of 2)</a:t>
            </a:r>
          </a:p>
        </p:txBody>
      </p:sp>
      <p:sp>
        <p:nvSpPr>
          <p:cNvPr id="3" name="Content Placeholder 2"/>
          <p:cNvSpPr>
            <a:spLocks noGrp="1"/>
          </p:cNvSpPr>
          <p:nvPr>
            <p:ph idx="1"/>
          </p:nvPr>
        </p:nvSpPr>
        <p:spPr>
          <a:xfrm>
            <a:off x="628650" y="1570405"/>
            <a:ext cx="7886700" cy="668636"/>
          </a:xfrm>
        </p:spPr>
        <p:txBody>
          <a:bodyPr>
            <a:noAutofit/>
          </a:bodyPr>
          <a:lstStyle/>
          <a:p>
            <a:pPr marL="291600" indent="-291600">
              <a:lnSpc>
                <a:spcPct val="100000"/>
              </a:lnSpc>
              <a:spcBef>
                <a:spcPts val="1200"/>
              </a:spcBef>
            </a:pPr>
            <a:r>
              <a:rPr lang="en-US" dirty="0"/>
              <a:t>An algorithm rarely performs a number of operations exactly equal to</a:t>
            </a:r>
          </a:p>
        </p:txBody>
      </p:sp>
      <p:graphicFrame>
        <p:nvGraphicFramePr>
          <p:cNvPr id="19" name="Content Placeholder 18" descr="n, n squared, or k to the power n :"/>
          <p:cNvGraphicFramePr>
            <a:graphicFrameLocks noGrp="1" noChangeAspect="1"/>
          </p:cNvGraphicFramePr>
          <p:nvPr>
            <p:ph idx="12"/>
            <p:extLst>
              <p:ext uri="{D42A27DB-BD31-4B8C-83A1-F6EECF244321}">
                <p14:modId xmlns:p14="http://schemas.microsoft.com/office/powerpoint/2010/main" val="292355745"/>
              </p:ext>
            </p:extLst>
          </p:nvPr>
        </p:nvGraphicFramePr>
        <p:xfrm>
          <a:off x="1915428" y="1882638"/>
          <a:ext cx="1362323" cy="340199"/>
        </p:xfrm>
        <a:graphic>
          <a:graphicData uri="http://schemas.openxmlformats.org/presentationml/2006/ole">
            <mc:AlternateContent xmlns:mc="http://schemas.openxmlformats.org/markup-compatibility/2006">
              <mc:Choice xmlns:v="urn:schemas-microsoft-com:vml" Requires="v">
                <p:oleObj spid="_x0000_s10292" name="Equation" r:id="rId4" imgW="863280" imgH="215640" progId="Equation.DSMT4">
                  <p:embed/>
                </p:oleObj>
              </mc:Choice>
              <mc:Fallback>
                <p:oleObj name="Equation" r:id="rId4" imgW="863280" imgH="215640" progId="Equation.DSMT4">
                  <p:embed/>
                  <p:pic>
                    <p:nvPicPr>
                      <p:cNvPr id="0" name=""/>
                      <p:cNvPicPr/>
                      <p:nvPr/>
                    </p:nvPicPr>
                    <p:blipFill>
                      <a:blip r:embed="rId5"/>
                      <a:stretch>
                        <a:fillRect/>
                      </a:stretch>
                    </p:blipFill>
                    <p:spPr>
                      <a:xfrm>
                        <a:off x="1915428" y="1882638"/>
                        <a:ext cx="1362323" cy="340199"/>
                      </a:xfrm>
                      <a:prstGeom prst="rect">
                        <a:avLst/>
                      </a:prstGeom>
                    </p:spPr>
                  </p:pic>
                </p:oleObj>
              </mc:Fallback>
            </mc:AlternateContent>
          </a:graphicData>
        </a:graphic>
      </p:graphicFrame>
      <p:sp>
        <p:nvSpPr>
          <p:cNvPr id="6" name="Content Placeholder 5"/>
          <p:cNvSpPr>
            <a:spLocks noGrp="1"/>
          </p:cNvSpPr>
          <p:nvPr>
            <p:ph idx="13"/>
          </p:nvPr>
        </p:nvSpPr>
        <p:spPr>
          <a:xfrm>
            <a:off x="628650" y="2325648"/>
            <a:ext cx="7886700" cy="1949161"/>
          </a:xfrm>
        </p:spPr>
        <p:txBody>
          <a:bodyPr>
            <a:normAutofit/>
          </a:bodyPr>
          <a:lstStyle/>
          <a:p>
            <a:pPr lvl="1">
              <a:spcBef>
                <a:spcPts val="1000"/>
              </a:spcBef>
            </a:pPr>
            <a:r>
              <a:rPr lang="en-US" dirty="0"/>
              <a:t>An algorithm usually performs other work in the body of a loop, above the loop, and below the loop</a:t>
            </a:r>
          </a:p>
          <a:p>
            <a:pPr marL="291600" indent="-291600">
              <a:spcBef>
                <a:spcPts val="1000"/>
              </a:spcBef>
            </a:pPr>
            <a:r>
              <a:rPr lang="en-US" dirty="0"/>
              <a:t>Whenever the amount of work is expressed as a polynomial, one term is dominant:</a:t>
            </a:r>
          </a:p>
          <a:p>
            <a:pPr lvl="1">
              <a:spcBef>
                <a:spcPts val="1000"/>
              </a:spcBef>
            </a:pPr>
            <a:r>
              <a:rPr lang="en-US" dirty="0"/>
              <a:t>As </a:t>
            </a:r>
            <a:r>
              <a:rPr lang="en-US" i="1" dirty="0"/>
              <a:t>n</a:t>
            </a:r>
            <a:r>
              <a:rPr lang="en-US" dirty="0"/>
              <a:t> becomes large, the dominant term becomes so large that you can ignore the amount of work represented by the other terms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8938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Big-O-Notation</a:t>
            </a:r>
            <a:r>
              <a:rPr lang="en-US" dirty="0"/>
              <a:t> </a:t>
            </a:r>
            <a:r>
              <a:rPr lang="en-US" sz="2000" dirty="0"/>
              <a:t>(2 of 2)</a:t>
            </a:r>
          </a:p>
        </p:txBody>
      </p:sp>
      <p:sp>
        <p:nvSpPr>
          <p:cNvPr id="3" name="Content Placeholder 2"/>
          <p:cNvSpPr>
            <a:spLocks noGrp="1"/>
          </p:cNvSpPr>
          <p:nvPr>
            <p:ph idx="1"/>
          </p:nvPr>
        </p:nvSpPr>
        <p:spPr>
          <a:xfrm>
            <a:off x="628650" y="1825625"/>
            <a:ext cx="7886700" cy="2441575"/>
          </a:xfrm>
        </p:spPr>
        <p:txBody>
          <a:bodyPr/>
          <a:lstStyle/>
          <a:p>
            <a:pPr marL="291600" indent="-291600">
              <a:spcBef>
                <a:spcPts val="1000"/>
              </a:spcBef>
            </a:pPr>
            <a:r>
              <a:rPr lang="en-US" dirty="0"/>
              <a:t>One notation used to express the efficiency or computational complexity of an algorithm is called </a:t>
            </a:r>
            <a:r>
              <a:rPr lang="en-US" i="1" dirty="0"/>
              <a:t>big-O notation:</a:t>
            </a:r>
          </a:p>
          <a:p>
            <a:pPr lvl="1">
              <a:spcBef>
                <a:spcPts val="1000"/>
              </a:spcBef>
            </a:pPr>
            <a:r>
              <a:rPr lang="en-US" dirty="0"/>
              <a:t>“O” stands for “on the order of,” a reference to the order of complexity of the work of the algorithm</a:t>
            </a:r>
          </a:p>
          <a:p>
            <a:pPr marL="291600" indent="-291600">
              <a:spcBef>
                <a:spcPts val="1000"/>
              </a:spcBef>
            </a:pPr>
            <a:r>
              <a:rPr lang="en-US" dirty="0"/>
              <a:t>For example,</a:t>
            </a:r>
          </a:p>
          <a:p>
            <a:pPr lvl="1">
              <a:spcBef>
                <a:spcPts val="1000"/>
              </a:spcBef>
            </a:pPr>
            <a:r>
              <a:rPr lang="en-US" dirty="0"/>
              <a:t>The order of complexity of a linear-time algorithm is O</a:t>
            </a:r>
            <a:r>
              <a:rPr lang="en-US" i="1" dirty="0"/>
              <a:t>(n)</a:t>
            </a:r>
          </a:p>
          <a:p>
            <a:pPr lvl="1">
              <a:spcBef>
                <a:spcPts val="1000"/>
              </a:spcBef>
            </a:pPr>
            <a:r>
              <a:rPr lang="en-US" dirty="0"/>
              <a:t>Big-O notation formalizes our discussion of orders of complexity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05325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Constant of Proportionality</a:t>
            </a:r>
          </a:p>
        </p:txBody>
      </p:sp>
      <p:sp>
        <p:nvSpPr>
          <p:cNvPr id="3" name="Content Placeholder 2"/>
          <p:cNvSpPr>
            <a:spLocks noGrp="1"/>
          </p:cNvSpPr>
          <p:nvPr>
            <p:ph idx="1"/>
          </p:nvPr>
        </p:nvSpPr>
        <p:spPr>
          <a:xfrm>
            <a:off x="628650" y="1825625"/>
            <a:ext cx="7886700" cy="2974975"/>
          </a:xfrm>
        </p:spPr>
        <p:txBody>
          <a:bodyPr>
            <a:normAutofit lnSpcReduction="10000"/>
          </a:bodyPr>
          <a:lstStyle/>
          <a:p>
            <a:pPr marL="291600" indent="-291600">
              <a:lnSpc>
                <a:spcPct val="100000"/>
              </a:lnSpc>
              <a:spcBef>
                <a:spcPts val="1000"/>
              </a:spcBef>
            </a:pPr>
            <a:r>
              <a:rPr lang="en-US" dirty="0"/>
              <a:t>Constant of proportionality</a:t>
            </a:r>
          </a:p>
          <a:p>
            <a:pPr lvl="1">
              <a:lnSpc>
                <a:spcPct val="100000"/>
              </a:lnSpc>
              <a:spcBef>
                <a:spcPts val="1000"/>
              </a:spcBef>
            </a:pPr>
            <a:r>
              <a:rPr lang="en-US" dirty="0"/>
              <a:t>Involves the terms and coefficients that are usually ignored during the big-O analysis</a:t>
            </a:r>
          </a:p>
          <a:p>
            <a:pPr marL="291600" indent="-291600">
              <a:lnSpc>
                <a:spcPct val="100000"/>
              </a:lnSpc>
              <a:spcBef>
                <a:spcPts val="1000"/>
              </a:spcBef>
            </a:pPr>
            <a:r>
              <a:rPr lang="en-US" dirty="0"/>
              <a:t>For example,</a:t>
            </a:r>
          </a:p>
          <a:p>
            <a:pPr lvl="1">
              <a:lnSpc>
                <a:spcPct val="100000"/>
              </a:lnSpc>
              <a:spcBef>
                <a:spcPts val="1000"/>
              </a:spcBef>
            </a:pPr>
            <a:r>
              <a:rPr lang="en-US" dirty="0"/>
              <a:t>The work performed by a linear time algorithm might be expressed as </a:t>
            </a:r>
            <a:r>
              <a:rPr lang="en-US" i="1" dirty="0"/>
              <a:t>work</a:t>
            </a:r>
            <a:r>
              <a:rPr lang="en-US" dirty="0"/>
              <a:t> = 2 * </a:t>
            </a:r>
            <a:r>
              <a:rPr lang="en-US" i="1" dirty="0"/>
              <a:t>size</a:t>
            </a:r>
            <a:r>
              <a:rPr lang="en-US" dirty="0"/>
              <a:t>, where the constant of proportionality, 2 in this case, is </a:t>
            </a:r>
            <a:r>
              <a:rPr lang="en-US" i="1" dirty="0"/>
              <a:t>work </a:t>
            </a:r>
            <a:r>
              <a:rPr lang="en-US" dirty="0"/>
              <a:t>/ </a:t>
            </a:r>
            <a:r>
              <a:rPr lang="en-US" i="1" dirty="0"/>
              <a:t>size</a:t>
            </a:r>
          </a:p>
          <a:p>
            <a:pPr marL="291600" indent="-291600">
              <a:lnSpc>
                <a:spcPct val="100000"/>
              </a:lnSpc>
              <a:spcBef>
                <a:spcPts val="1000"/>
              </a:spcBef>
            </a:pPr>
            <a:r>
              <a:rPr lang="en-US" dirty="0"/>
              <a:t>Try to determine the constant of proportionality for the first algorithm discussed in this chapter – the code:</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593140" y="4846824"/>
            <a:ext cx="4817060" cy="1143000"/>
          </a:xfrm>
        </p:spPr>
        <p:txBody>
          <a:bodyPr>
            <a:normAutofit/>
          </a:bodyPr>
          <a:lstStyle/>
          <a:p>
            <a:pPr marL="342900" lvl="1" indent="0">
              <a:buNone/>
            </a:pPr>
            <a:r>
              <a:rPr lang="en-US" b="1" dirty="0">
                <a:latin typeface="Courier New" panose="02070309020205020404" pitchFamily="49" charset="0"/>
                <a:cs typeface="Courier New" panose="02070309020205020404" pitchFamily="49" charset="0"/>
              </a:rPr>
              <a:t>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for x in range(</a:t>
            </a:r>
            <a:r>
              <a:rPr lang="en-US" b="1" dirty="0" err="1">
                <a:latin typeface="Courier New" panose="02070309020205020404" pitchFamily="49" charset="0"/>
                <a:cs typeface="Courier New" panose="02070309020205020404" pitchFamily="49" charset="0"/>
              </a:rPr>
              <a:t>problemSize</a:t>
            </a:r>
            <a:r>
              <a:rPr lang="en-US" b="1"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1&lt;/</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6496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Search Algorithms</a:t>
            </a:r>
          </a:p>
        </p:txBody>
      </p:sp>
      <p:sp>
        <p:nvSpPr>
          <p:cNvPr id="3" name="Content Placeholder 2"/>
          <p:cNvSpPr>
            <a:spLocks noGrp="1"/>
          </p:cNvSpPr>
          <p:nvPr>
            <p:ph idx="1"/>
          </p:nvPr>
        </p:nvSpPr>
        <p:spPr>
          <a:xfrm>
            <a:off x="628650" y="1825625"/>
            <a:ext cx="7886700" cy="2365375"/>
          </a:xfrm>
        </p:spPr>
        <p:txBody>
          <a:bodyPr/>
          <a:lstStyle/>
          <a:p>
            <a:pPr marL="291600" indent="-291600">
              <a:spcBef>
                <a:spcPts val="1000"/>
              </a:spcBef>
            </a:pPr>
            <a:r>
              <a:rPr lang="en-US" dirty="0"/>
              <a:t>This section covers several algorithms that can be used for searching and sorting lists</a:t>
            </a:r>
          </a:p>
          <a:p>
            <a:pPr marL="291600" indent="-291600">
              <a:spcBef>
                <a:spcPts val="1000"/>
              </a:spcBef>
            </a:pPr>
            <a:r>
              <a:rPr lang="en-US" dirty="0"/>
              <a:t>You will</a:t>
            </a:r>
          </a:p>
          <a:p>
            <a:pPr lvl="1">
              <a:spcBef>
                <a:spcPts val="1000"/>
              </a:spcBef>
            </a:pPr>
            <a:r>
              <a:rPr lang="en-US" dirty="0"/>
              <a:t>Learn the design of an algorithm</a:t>
            </a:r>
          </a:p>
          <a:p>
            <a:pPr lvl="1">
              <a:spcBef>
                <a:spcPts val="1000"/>
              </a:spcBef>
            </a:pPr>
            <a:r>
              <a:rPr lang="en-US" dirty="0"/>
              <a:t>See its implementation as a Python function</a:t>
            </a:r>
          </a:p>
          <a:p>
            <a:pPr lvl="1">
              <a:spcBef>
                <a:spcPts val="1000"/>
              </a:spcBef>
            </a:pPr>
            <a:r>
              <a:rPr lang="en-US" dirty="0"/>
              <a:t>See an analysis of the algorithm’s computational complexity</a:t>
            </a: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2460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Sequential Search of a List</a:t>
            </a:r>
          </a:p>
        </p:txBody>
      </p:sp>
      <p:sp>
        <p:nvSpPr>
          <p:cNvPr id="3" name="Content Placeholder 2"/>
          <p:cNvSpPr>
            <a:spLocks noGrp="1"/>
          </p:cNvSpPr>
          <p:nvPr>
            <p:ph idx="1"/>
          </p:nvPr>
        </p:nvSpPr>
        <p:spPr>
          <a:xfrm>
            <a:off x="628650" y="1807869"/>
            <a:ext cx="7886700" cy="307975"/>
          </a:xfrm>
        </p:spPr>
        <p:txBody>
          <a:bodyPr/>
          <a:lstStyle/>
          <a:p>
            <a:pPr marL="291600" indent="-291600">
              <a:spcBef>
                <a:spcPts val="1000"/>
              </a:spcBef>
            </a:pPr>
            <a:r>
              <a:rPr lang="en-US" dirty="0"/>
              <a:t>Python code for a sequential search function:</a:t>
            </a:r>
          </a:p>
        </p:txBody>
      </p:sp>
      <p:sp>
        <p:nvSpPr>
          <p:cNvPr id="5" name="Content Placeholder 4"/>
          <p:cNvSpPr>
            <a:spLocks noGrp="1"/>
          </p:cNvSpPr>
          <p:nvPr>
            <p:ph sz="quarter" idx="12"/>
          </p:nvPr>
        </p:nvSpPr>
        <p:spPr>
          <a:xfrm>
            <a:off x="770878" y="2274200"/>
            <a:ext cx="7391400" cy="229262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sequentialSearch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target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found,</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    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0059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Best-Case, Worst-Case, and Average-Case Performance</a:t>
            </a:r>
          </a:p>
        </p:txBody>
      </p:sp>
      <p:sp>
        <p:nvSpPr>
          <p:cNvPr id="3" name="Content Placeholder 2"/>
          <p:cNvSpPr>
            <a:spLocks noGrp="1"/>
          </p:cNvSpPr>
          <p:nvPr>
            <p:ph idx="1"/>
          </p:nvPr>
        </p:nvSpPr>
        <p:spPr>
          <a:xfrm>
            <a:off x="628650" y="1529000"/>
            <a:ext cx="7886700" cy="4490800"/>
          </a:xfrm>
        </p:spPr>
        <p:txBody>
          <a:bodyPr>
            <a:normAutofit/>
          </a:bodyPr>
          <a:lstStyle/>
          <a:p>
            <a:pPr marL="291600" indent="-291600">
              <a:spcBef>
                <a:spcPts val="1000"/>
              </a:spcBef>
            </a:pPr>
            <a:r>
              <a:rPr lang="en-US" dirty="0"/>
              <a:t>The performance of some algorithms depends on the placement of the data processed:</a:t>
            </a:r>
          </a:p>
          <a:p>
            <a:pPr lvl="1">
              <a:spcBef>
                <a:spcPts val="1000"/>
              </a:spcBef>
            </a:pPr>
            <a:r>
              <a:rPr lang="en-US" dirty="0"/>
              <a:t>The sequential search algorithm does less work to find a target at the beginning of a list than at the end of the list</a:t>
            </a:r>
          </a:p>
          <a:p>
            <a:pPr marL="291600" indent="-291600">
              <a:spcBef>
                <a:spcPts val="1000"/>
              </a:spcBef>
            </a:pPr>
            <a:r>
              <a:rPr lang="en-US" dirty="0"/>
              <a:t>Analysis of a sequential search considers three cases:</a:t>
            </a:r>
          </a:p>
          <a:p>
            <a:pPr lvl="1">
              <a:spcBef>
                <a:spcPts val="1000"/>
              </a:spcBef>
            </a:pPr>
            <a:r>
              <a:rPr lang="en-US" dirty="0"/>
              <a:t>In the worst case, the target item is at the end of the list or not in the list at all:</a:t>
            </a:r>
          </a:p>
          <a:p>
            <a:pPr lvl="2">
              <a:spcBef>
                <a:spcPts val="1000"/>
              </a:spcBef>
            </a:pPr>
            <a:r>
              <a:rPr lang="en-US" dirty="0"/>
              <a:t>Algorithm must visit every item and perform </a:t>
            </a:r>
            <a:r>
              <a:rPr lang="en-US" i="1" dirty="0"/>
              <a:t>n </a:t>
            </a:r>
            <a:r>
              <a:rPr lang="en-US" dirty="0"/>
              <a:t>iterations for a list of size </a:t>
            </a:r>
            <a:r>
              <a:rPr lang="en-US" i="1" dirty="0"/>
              <a:t>n</a:t>
            </a:r>
            <a:endParaRPr lang="en-US" dirty="0"/>
          </a:p>
          <a:p>
            <a:pPr lvl="2">
              <a:spcBef>
                <a:spcPts val="1000"/>
              </a:spcBef>
            </a:pPr>
            <a:r>
              <a:rPr lang="en-US" dirty="0"/>
              <a:t>Thus, the worst-case complexity of a sequential search is O(</a:t>
            </a:r>
            <a:r>
              <a:rPr lang="en-US" i="1" dirty="0"/>
              <a:t>n</a:t>
            </a:r>
            <a:r>
              <a:rPr lang="en-US" dirty="0"/>
              <a:t>)</a:t>
            </a:r>
          </a:p>
          <a:p>
            <a:pPr lvl="1">
              <a:spcBef>
                <a:spcPts val="1000"/>
              </a:spcBef>
            </a:pPr>
            <a:r>
              <a:rPr lang="en-US" dirty="0"/>
              <a:t>In the best case, the algorithm finds the target at the first position, after making one iteration, for an O(1) complexity</a:t>
            </a:r>
          </a:p>
          <a:p>
            <a:pPr lvl="1">
              <a:spcBef>
                <a:spcPts val="1000"/>
              </a:spcBef>
            </a:pPr>
            <a:r>
              <a:rPr lang="en-US" dirty="0"/>
              <a:t>To determine the average case, add the number of iterations required to find the target at each possible position and divide the sum by </a:t>
            </a:r>
            <a:r>
              <a:rPr lang="en-US" i="1" dirty="0"/>
              <a:t>n:</a:t>
            </a:r>
            <a:endParaRPr lang="en-US" dirty="0"/>
          </a:p>
          <a:p>
            <a:pPr lvl="2"/>
            <a:r>
              <a:rPr lang="en-US" dirty="0"/>
              <a:t>Thus, the algorithm performs</a:t>
            </a:r>
          </a:p>
        </p:txBody>
      </p:sp>
      <p:graphicFrame>
        <p:nvGraphicFramePr>
          <p:cNvPr id="7" name="Content Placeholder 6" descr="(n + n minus 1 + n minus 2 + ellipsis + 1), over n, or (n + 1), over 2 iterations."/>
          <p:cNvGraphicFramePr>
            <a:graphicFrameLocks noGrp="1" noChangeAspect="1"/>
          </p:cNvGraphicFramePr>
          <p:nvPr>
            <p:ph sz="quarter" idx="12"/>
            <p:extLst>
              <p:ext uri="{D42A27DB-BD31-4B8C-83A1-F6EECF244321}">
                <p14:modId xmlns:p14="http://schemas.microsoft.com/office/powerpoint/2010/main" val="469389879"/>
              </p:ext>
            </p:extLst>
          </p:nvPr>
        </p:nvGraphicFramePr>
        <p:xfrm>
          <a:off x="4267200" y="5892065"/>
          <a:ext cx="3004729" cy="427351"/>
        </p:xfrm>
        <a:graphic>
          <a:graphicData uri="http://schemas.openxmlformats.org/presentationml/2006/ole">
            <mc:AlternateContent xmlns:mc="http://schemas.openxmlformats.org/markup-compatibility/2006">
              <mc:Choice xmlns:v="urn:schemas-microsoft-com:vml" Requires="v">
                <p:oleObj spid="_x0000_s2219" name="Equation" r:id="rId4" imgW="3035160" imgH="431640" progId="Equation.DSMT4">
                  <p:embed/>
                </p:oleObj>
              </mc:Choice>
              <mc:Fallback>
                <p:oleObj name="Equation" r:id="rId4" imgW="3035160" imgH="431640" progId="Equation.DSMT4">
                  <p:embed/>
                  <p:pic>
                    <p:nvPicPr>
                      <p:cNvPr id="0" name=""/>
                      <p:cNvPicPr/>
                      <p:nvPr/>
                    </p:nvPicPr>
                    <p:blipFill>
                      <a:blip r:embed="rId5"/>
                      <a:stretch>
                        <a:fillRect/>
                      </a:stretch>
                    </p:blipFill>
                    <p:spPr>
                      <a:xfrm>
                        <a:off x="4267200" y="5892065"/>
                        <a:ext cx="3004729" cy="427351"/>
                      </a:xfrm>
                      <a:prstGeom prst="rect">
                        <a:avLst/>
                      </a:prstGeom>
                    </p:spPr>
                  </p:pic>
                </p:oleObj>
              </mc:Fallback>
            </mc:AlternateContent>
          </a:graphicData>
        </a:graphic>
      </p:graphicFrame>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7581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(1 of 2)</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Python code for the binary search function:</a:t>
            </a:r>
          </a:p>
        </p:txBody>
      </p:sp>
      <p:sp>
        <p:nvSpPr>
          <p:cNvPr id="5" name="Content Placeholder 4"/>
          <p:cNvSpPr>
            <a:spLocks noGrp="1"/>
          </p:cNvSpPr>
          <p:nvPr>
            <p:ph sz="quarter" idx="12"/>
          </p:nvPr>
        </p:nvSpPr>
        <p:spPr>
          <a:xfrm>
            <a:off x="770878" y="2255958"/>
            <a:ext cx="7162800" cy="3074342"/>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binarySearch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solidFill>
                  <a:srgbClr val="8A3800"/>
                </a:solidFill>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55018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(2 of 2)</a:t>
            </a:r>
          </a:p>
        </p:txBody>
      </p:sp>
      <p:sp>
        <p:nvSpPr>
          <p:cNvPr id="3" name="Content Placeholder 2"/>
          <p:cNvSpPr>
            <a:spLocks noGrp="1"/>
          </p:cNvSpPr>
          <p:nvPr>
            <p:ph idx="1"/>
          </p:nvPr>
        </p:nvSpPr>
        <p:spPr>
          <a:xfrm>
            <a:off x="628650" y="1825625"/>
            <a:ext cx="8210550" cy="460375"/>
          </a:xfrm>
        </p:spPr>
        <p:txBody>
          <a:bodyPr/>
          <a:lstStyle/>
          <a:p>
            <a:pPr marL="0" indent="0">
              <a:spcBef>
                <a:spcPts val="1000"/>
              </a:spcBef>
              <a:buNone/>
            </a:pPr>
            <a:r>
              <a:rPr lang="en-IN" b="1" dirty="0"/>
              <a:t>Figure 3-7: </a:t>
            </a:r>
            <a:r>
              <a:rPr lang="en-IN" dirty="0"/>
              <a:t>The items of a list visited during a binary search</a:t>
            </a:r>
            <a:endParaRPr lang="en-US" dirty="0"/>
          </a:p>
        </p:txBody>
      </p:sp>
      <p:pic>
        <p:nvPicPr>
          <p:cNvPr id="7" name="Content Placeholder 6" descr="Illustration shows how items in a list are visited in a binary search for the item 10. Comparison 1. Numbers from 1 to 9 in a row in boxes. The number 5 is compared here. Comparison 2. The numbers from 1 to 9 are split into two rows. 1 to 4 in a row and 6 to 9 in another row. The number 7 is compared. Comparison 3. The numbers 1 to 4 are split into two rows. 1 in a row of its own and the numbers 3 and 4 in another row. The numbers 6 to 9 are split into two rows. 6 in a row of its own and the numbers 8 and 9 in another row. The number 8 is compared. Comparison 4. The row with 3 and 4 is split into just the number 4. The row with 8 and 9 is split into just the number 9. Number 9 is comp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070079" y="2489820"/>
            <a:ext cx="4821721" cy="3016520"/>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06654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Basic Sort Algorithms</a:t>
            </a:r>
          </a:p>
        </p:txBody>
      </p:sp>
      <p:sp>
        <p:nvSpPr>
          <p:cNvPr id="3" name="Content Placeholder 2"/>
          <p:cNvSpPr>
            <a:spLocks noGrp="1"/>
          </p:cNvSpPr>
          <p:nvPr>
            <p:ph idx="1"/>
          </p:nvPr>
        </p:nvSpPr>
        <p:spPr>
          <a:xfrm>
            <a:off x="628650" y="1825626"/>
            <a:ext cx="7886700" cy="1361458"/>
          </a:xfrm>
        </p:spPr>
        <p:txBody>
          <a:bodyPr>
            <a:normAutofit/>
          </a:bodyPr>
          <a:lstStyle/>
          <a:p>
            <a:pPr marL="291600" indent="-291600">
              <a:spcBef>
                <a:spcPts val="1000"/>
              </a:spcBef>
            </a:pPr>
            <a:r>
              <a:rPr lang="en-US" dirty="0"/>
              <a:t>Each of the Python sort functions that are developed operates on a list of integers and uses a </a:t>
            </a:r>
            <a:r>
              <a:rPr lang="en-US" b="1" dirty="0">
                <a:latin typeface="Courier New" panose="02070309020205020404" pitchFamily="49" charset="0"/>
                <a:cs typeface="Courier New" panose="02070309020205020404" pitchFamily="49" charset="0"/>
              </a:rPr>
              <a:t>swap</a:t>
            </a:r>
            <a:r>
              <a:rPr lang="en-US" dirty="0"/>
              <a:t> function to exchange the positions of two items in the list</a:t>
            </a:r>
          </a:p>
          <a:p>
            <a:pPr marL="291600" indent="-291600">
              <a:spcBef>
                <a:spcPts val="1000"/>
              </a:spcBef>
            </a:pPr>
            <a:r>
              <a:rPr lang="en-US" dirty="0"/>
              <a:t>Here is the code for that function:</a:t>
            </a:r>
          </a:p>
        </p:txBody>
      </p:sp>
      <p:sp>
        <p:nvSpPr>
          <p:cNvPr id="5" name="Content Placeholder 4"/>
          <p:cNvSpPr>
            <a:spLocks noGrp="1"/>
          </p:cNvSpPr>
          <p:nvPr>
            <p:ph sz="quarter" idx="12"/>
          </p:nvPr>
        </p:nvSpPr>
        <p:spPr>
          <a:xfrm>
            <a:off x="761815" y="3262543"/>
            <a:ext cx="7753350" cy="19050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swap</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"""Exchanges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positions</a:t>
            </a:r>
            <a:r>
              <a:rPr lang="en-US" b="1"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panose="02070309020205020404" pitchFamily="49" charset="0"/>
                <a:ea typeface="MS Mincho"/>
                <a:cs typeface="Bank Gothic Bold"/>
              </a:rPr>
              <a:t>i</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j."""</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You</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could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say</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but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following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really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[j]</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temp</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50684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Selection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3.8 shows the states of a list of five items after each search and swap pass of a selection sort:</a:t>
            </a:r>
          </a:p>
          <a:p>
            <a:pPr lvl="1">
              <a:spcBef>
                <a:spcPts val="1000"/>
              </a:spcBef>
            </a:pPr>
            <a:r>
              <a:rPr lang="en-US" dirty="0"/>
              <a:t>The two items just swapped on each pass have asterisks next to them and the sorted portion of the list is shaded</a:t>
            </a:r>
          </a:p>
        </p:txBody>
      </p:sp>
      <p:sp>
        <p:nvSpPr>
          <p:cNvPr id="5" name="Content Placeholder 4"/>
          <p:cNvSpPr>
            <a:spLocks noGrp="1"/>
          </p:cNvSpPr>
          <p:nvPr>
            <p:ph sz="quarter" idx="12"/>
          </p:nvPr>
        </p:nvSpPr>
        <p:spPr>
          <a:xfrm>
            <a:off x="628650" y="3224813"/>
            <a:ext cx="7296150" cy="381000"/>
          </a:xfrm>
        </p:spPr>
        <p:txBody>
          <a:bodyPr/>
          <a:lstStyle/>
          <a:p>
            <a:pPr marL="0" indent="0">
              <a:spcBef>
                <a:spcPts val="1000"/>
              </a:spcBef>
              <a:buNone/>
            </a:pPr>
            <a:r>
              <a:rPr lang="en-IN" b="1" dirty="0"/>
              <a:t>Figure 3-8: </a:t>
            </a:r>
            <a:r>
              <a:rPr lang="en-IN" dirty="0"/>
              <a:t>A trace of data during a selection sort</a:t>
            </a:r>
          </a:p>
        </p:txBody>
      </p:sp>
      <p:pic>
        <p:nvPicPr>
          <p:cNvPr id="7" name="Content Placeholder 6" descr="Illustration shows table with trace of data during a selection sort. It has 5 rows and 5 columns. The columns have the following headings from left to right: Unsorted list, after 1st pass, after 2nd pass, after 3rd pass, after 4th pass.  The row entries are as follows. Row 1: 5, 1*, 1, 1, 1. Row 2: 3, 3, 2*, 2, 2. Row 3: 1, 5*, 5, 3*, 3. Row 4: 2, 2, 3*, 5*, 4*. Row 5: 4, 4, 4, 4,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42615" y="3779894"/>
            <a:ext cx="5625410" cy="2082260"/>
          </a:xfrm>
        </p:spPr>
      </p:pic>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95761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09380"/>
          </a:xfrm>
        </p:spPr>
        <p:txBody>
          <a:bodyPr/>
          <a:lstStyle/>
          <a:p>
            <a:r>
              <a:rPr lang="en-US" b="1" dirty="0"/>
              <a:t>Selection Sort </a:t>
            </a:r>
            <a:r>
              <a:rPr lang="en-US" sz="2000" dirty="0"/>
              <a:t>(2 of 2)</a:t>
            </a:r>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dirty="0"/>
              <a:t>Python function for a selection sort:</a:t>
            </a:r>
          </a:p>
        </p:txBody>
      </p:sp>
      <p:sp>
        <p:nvSpPr>
          <p:cNvPr id="5" name="Content Placeholder 4"/>
          <p:cNvSpPr>
            <a:spLocks noGrp="1"/>
          </p:cNvSpPr>
          <p:nvPr>
            <p:ph sz="quarter" idx="12"/>
          </p:nvPr>
        </p:nvSpPr>
        <p:spPr>
          <a:xfrm>
            <a:off x="762000" y="2286000"/>
            <a:ext cx="8153400" cy="3124200"/>
          </a:xfrm>
        </p:spPr>
        <p:txBody>
          <a:bodyPr>
            <a:normAutofit/>
          </a:bodyPr>
          <a:lstStyle/>
          <a:p>
            <a:pPr marL="171450" marR="1828800" lvl="1" indent="0">
              <a:spcBef>
                <a:spcPts val="0"/>
              </a:spcBef>
              <a:buNone/>
            </a:pPr>
            <a:r>
              <a:rPr lang="da-DK" b="1" dirty="0">
                <a:solidFill>
                  <a:srgbClr val="8A3800"/>
                </a:solidFill>
                <a:latin typeface="Courier New" panose="02070309020205020404" pitchFamily="49" charset="0"/>
                <a:ea typeface="MS Mincho"/>
                <a:cs typeface="Bank Gothic Bold"/>
              </a:rPr>
              <a:t>def</a:t>
            </a:r>
            <a:r>
              <a:rPr lang="da-DK" b="1" dirty="0">
                <a:latin typeface="Times" panose="02020603050405020304" pitchFamily="18" charset="0"/>
                <a:ea typeface="MS Mincho"/>
                <a:cs typeface="Bank Gothic Bold"/>
              </a:rPr>
              <a:t> </a:t>
            </a:r>
            <a:r>
              <a:rPr lang="da-DK" b="1" dirty="0">
                <a:solidFill>
                  <a:srgbClr val="0000FF"/>
                </a:solidFill>
                <a:latin typeface="Courier New" panose="02070309020205020404" pitchFamily="49" charset="0"/>
                <a:ea typeface="MS Mincho"/>
                <a:cs typeface="Bank Gothic Bold"/>
              </a:rPr>
              <a:t>selectionSort</a:t>
            </a:r>
            <a:r>
              <a:rPr lang="da-DK"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searches</a:t>
            </a:r>
            <a:endParaRPr lang="en-US" sz="1300" dirty="0">
              <a:solidFill>
                <a:srgbClr val="C00000"/>
              </a:solidFill>
              <a:latin typeface="Bank Gothic Bold"/>
              <a:ea typeface="MS Mincho"/>
              <a:cs typeface="Bank Gothic Bold"/>
            </a:endParaRPr>
          </a:p>
          <a:p>
            <a:pPr marL="171450" marR="5461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smallest</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Start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if</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lyst[minIndex]:</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swap(</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97050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3.9 shows a trace of the bubbling process through a list of five items:</a:t>
            </a:r>
          </a:p>
          <a:p>
            <a:pPr lvl="1">
              <a:spcBef>
                <a:spcPts val="1000"/>
              </a:spcBef>
            </a:pPr>
            <a:r>
              <a:rPr lang="en-US" dirty="0"/>
              <a:t>This process makes four passes through a nested loop to bubble the largest item down to the end of the list</a:t>
            </a:r>
          </a:p>
        </p:txBody>
      </p:sp>
      <p:sp>
        <p:nvSpPr>
          <p:cNvPr id="5" name="Content Placeholder 4"/>
          <p:cNvSpPr>
            <a:spLocks noGrp="1"/>
          </p:cNvSpPr>
          <p:nvPr>
            <p:ph sz="quarter" idx="12"/>
          </p:nvPr>
        </p:nvSpPr>
        <p:spPr>
          <a:xfrm>
            <a:off x="628650" y="3227033"/>
            <a:ext cx="7277100" cy="365319"/>
          </a:xfrm>
        </p:spPr>
        <p:txBody>
          <a:bodyPr/>
          <a:lstStyle/>
          <a:p>
            <a:pPr marL="0" indent="0">
              <a:spcBef>
                <a:spcPts val="1000"/>
              </a:spcBef>
              <a:buNone/>
            </a:pPr>
            <a:r>
              <a:rPr lang="en-IN" b="1" dirty="0"/>
              <a:t>Figure 3-9: </a:t>
            </a:r>
            <a:r>
              <a:rPr lang="en-IN" dirty="0"/>
              <a:t>A trace of data during a bubble sort</a:t>
            </a:r>
          </a:p>
        </p:txBody>
      </p:sp>
      <p:pic>
        <p:nvPicPr>
          <p:cNvPr id="9" name="Content Placeholder 8" descr="Illustration shows table with trace of data during a bubble sort. It has 5 rows and 5 columns. The columns have the following headings from left to right: Unsorted list, after 1st pass, after 2nd pass, after 3rd pass, after 4th pass.  The row entries are as follows. Row 1: 5, 4*, 4, 4, 4. Row 2: 4, 5*, 2*, 2, 2. Row 3: 2, 2, 5*, 1*, 1. Row 4: 1, 1, 1, 5*, 3*. Row 5: 3, 3, 3, 3,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76656" y="3776156"/>
            <a:ext cx="5685838" cy="2102157"/>
          </a:xfrm>
        </p:spPr>
      </p:pic>
      <p:sp>
        <p:nvSpPr>
          <p:cNvPr id="7"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2230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(2 of 2)</a:t>
            </a:r>
          </a:p>
        </p:txBody>
      </p:sp>
      <p:sp>
        <p:nvSpPr>
          <p:cNvPr id="3" name="Content Placeholder 2"/>
          <p:cNvSpPr>
            <a:spLocks noGrp="1"/>
          </p:cNvSpPr>
          <p:nvPr>
            <p:ph idx="1"/>
          </p:nvPr>
        </p:nvSpPr>
        <p:spPr>
          <a:xfrm>
            <a:off x="628650" y="1825625"/>
            <a:ext cx="7886700" cy="1069975"/>
          </a:xfrm>
        </p:spPr>
        <p:txBody>
          <a:bodyPr>
            <a:normAutofit/>
          </a:bodyPr>
          <a:lstStyle/>
          <a:p>
            <a:pPr marL="291600" indent="-291600">
              <a:spcBef>
                <a:spcPts val="1000"/>
              </a:spcBef>
            </a:pPr>
            <a:r>
              <a:rPr lang="en-US" dirty="0"/>
              <a:t>You can make a minor adjustment to the bubble sort to improve its best-case performance to linear</a:t>
            </a:r>
          </a:p>
          <a:p>
            <a:pPr marL="291600" indent="-291600">
              <a:spcBef>
                <a:spcPts val="1000"/>
              </a:spcBef>
            </a:pPr>
            <a:r>
              <a:rPr lang="en-US" dirty="0"/>
              <a:t>Modified bubble sort function:</a:t>
            </a:r>
          </a:p>
        </p:txBody>
      </p:sp>
      <p:sp>
        <p:nvSpPr>
          <p:cNvPr id="5" name="Content Placeholder 4"/>
          <p:cNvSpPr>
            <a:spLocks noGrp="1"/>
          </p:cNvSpPr>
          <p:nvPr>
            <p:ph sz="quarter" idx="12"/>
          </p:nvPr>
        </p:nvSpPr>
        <p:spPr>
          <a:xfrm>
            <a:off x="749422" y="3017956"/>
            <a:ext cx="7620000" cy="2849443"/>
          </a:xfrm>
        </p:spPr>
        <p:txBody>
          <a:bodyPr>
            <a:normAutofit fontScale="925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bubbleSortWithTweak</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swapped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False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swap(lyst,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swapped</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solidFill>
                  <a:srgbClr val="8A3800"/>
                </a:solidFill>
                <a:latin typeface="Courier New" panose="02070309020205020404" pitchFamily="49" charset="0"/>
                <a:ea typeface="MS Mincho"/>
                <a:cs typeface="Bank Gothic Bold"/>
              </a:rPr>
              <a:t>True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not</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swapped: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Return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swaps</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n</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71790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(1 of 3)</a:t>
            </a:r>
          </a:p>
        </p:txBody>
      </p:sp>
      <p:sp>
        <p:nvSpPr>
          <p:cNvPr id="3" name="Content Placeholder 2"/>
          <p:cNvSpPr>
            <a:spLocks noGrp="1"/>
          </p:cNvSpPr>
          <p:nvPr>
            <p:ph idx="1"/>
          </p:nvPr>
        </p:nvSpPr>
        <p:spPr>
          <a:xfrm>
            <a:off x="628650" y="1600200"/>
            <a:ext cx="7886700" cy="4194175"/>
          </a:xfrm>
        </p:spPr>
        <p:txBody>
          <a:bodyPr>
            <a:normAutofit fontScale="92500" lnSpcReduction="20000"/>
          </a:bodyPr>
          <a:lstStyle/>
          <a:p>
            <a:pPr marL="291600" indent="-291600">
              <a:lnSpc>
                <a:spcPct val="100000"/>
              </a:lnSpc>
              <a:spcBef>
                <a:spcPts val="1000"/>
              </a:spcBef>
            </a:pPr>
            <a:r>
              <a:rPr lang="en-US" dirty="0"/>
              <a:t>An insertion sort attempts to exploit the partial ordering of the list in a different way</a:t>
            </a:r>
          </a:p>
          <a:p>
            <a:pPr marL="291600" indent="-291600">
              <a:lnSpc>
                <a:spcPct val="100000"/>
              </a:lnSpc>
              <a:spcBef>
                <a:spcPts val="1000"/>
              </a:spcBef>
            </a:pPr>
            <a:r>
              <a:rPr lang="en-US" dirty="0"/>
              <a:t>The strategy:</a:t>
            </a:r>
          </a:p>
          <a:p>
            <a:pPr lvl="1">
              <a:spcBef>
                <a:spcPts val="1000"/>
              </a:spcBef>
            </a:pPr>
            <a:r>
              <a:rPr lang="en-US" dirty="0"/>
              <a:t>On the </a:t>
            </a:r>
            <a:r>
              <a:rPr lang="en-US" i="1" dirty="0"/>
              <a:t>i</a:t>
            </a:r>
            <a:r>
              <a:rPr lang="en-US" dirty="0"/>
              <a:t>th pass through the list, where </a:t>
            </a:r>
            <a:r>
              <a:rPr lang="en-US" i="1" dirty="0"/>
              <a:t>i </a:t>
            </a:r>
            <a:r>
              <a:rPr lang="en-US" dirty="0"/>
              <a:t>ranges from 1 to </a:t>
            </a:r>
            <a:r>
              <a:rPr lang="en-US" i="1" dirty="0"/>
              <a:t>n </a:t>
            </a:r>
            <a:r>
              <a:rPr lang="en-US" dirty="0">
                <a:latin typeface="Arial" panose="020B0604020202020204" pitchFamily="34" charset="0"/>
                <a:cs typeface="Arial" panose="020B0604020202020204" pitchFamily="34" charset="0"/>
              </a:rPr>
              <a:t>−</a:t>
            </a:r>
            <a:r>
              <a:rPr lang="en-US" dirty="0"/>
              <a:t> 1, the </a:t>
            </a:r>
            <a:r>
              <a:rPr lang="en-US" i="1" dirty="0"/>
              <a:t>i</a:t>
            </a:r>
            <a:r>
              <a:rPr lang="en-US" dirty="0"/>
              <a:t>th item should be inserted into its proper place among the first </a:t>
            </a:r>
            <a:r>
              <a:rPr lang="en-US" i="1" dirty="0"/>
              <a:t>i </a:t>
            </a:r>
            <a:r>
              <a:rPr lang="en-US" dirty="0"/>
              <a:t>items in the list</a:t>
            </a:r>
          </a:p>
          <a:p>
            <a:pPr lvl="1">
              <a:spcBef>
                <a:spcPts val="1000"/>
              </a:spcBef>
            </a:pPr>
            <a:r>
              <a:rPr lang="en-US" dirty="0"/>
              <a:t>After the </a:t>
            </a:r>
            <a:r>
              <a:rPr lang="en-US" i="1" dirty="0"/>
              <a:t>i</a:t>
            </a:r>
            <a:r>
              <a:rPr lang="en-US" dirty="0"/>
              <a:t>th pass, the first </a:t>
            </a:r>
            <a:r>
              <a:rPr lang="en-US" i="1" dirty="0"/>
              <a:t>i </a:t>
            </a:r>
            <a:r>
              <a:rPr lang="en-US" dirty="0"/>
              <a:t>items should be in sorted order:</a:t>
            </a:r>
          </a:p>
          <a:p>
            <a:pPr lvl="2">
              <a:spcBef>
                <a:spcPts val="1000"/>
              </a:spcBef>
            </a:pPr>
            <a:r>
              <a:rPr lang="en-US" dirty="0"/>
              <a:t>This process is analogous to the way in which many people organize playing cards in their hands. That is, if you hold the first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 cards in order, you pick the </a:t>
            </a:r>
            <a:r>
              <a:rPr lang="en-US" i="1" dirty="0"/>
              <a:t>i</a:t>
            </a:r>
            <a:r>
              <a:rPr lang="en-US" dirty="0"/>
              <a:t>th card and compare it to these cards until its proper spot is found</a:t>
            </a:r>
          </a:p>
          <a:p>
            <a:pPr lvl="1">
              <a:spcBef>
                <a:spcPts val="1000"/>
              </a:spcBef>
            </a:pPr>
            <a:r>
              <a:rPr lang="en-US" dirty="0"/>
              <a:t>Insertion sort consists of two loops:</a:t>
            </a:r>
          </a:p>
          <a:p>
            <a:pPr lvl="2">
              <a:spcBef>
                <a:spcPts val="1000"/>
              </a:spcBef>
            </a:pPr>
            <a:r>
              <a:rPr lang="en-US" dirty="0"/>
              <a:t>The outer loop traverses the positions from 1 to </a:t>
            </a:r>
            <a:r>
              <a:rPr lang="en-US" i="1" dirty="0"/>
              <a:t>n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i </a:t>
            </a:r>
            <a:r>
              <a:rPr lang="en-US" dirty="0"/>
              <a:t>in this loop, you save the item and start the inner loop at position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j </a:t>
            </a:r>
            <a:r>
              <a:rPr lang="en-US" dirty="0"/>
              <a:t>in this loop, you move the item to position </a:t>
            </a:r>
            <a:r>
              <a:rPr lang="en-US" i="1" dirty="0"/>
              <a:t>j </a:t>
            </a:r>
            <a:r>
              <a:rPr lang="en-US" dirty="0"/>
              <a:t>+ 1 until you find the insertion point for the saved (</a:t>
            </a:r>
            <a:r>
              <a:rPr lang="en-US" i="1" dirty="0"/>
              <a:t>i</a:t>
            </a:r>
            <a:r>
              <a:rPr lang="en-US" dirty="0"/>
              <a:t>th) item</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6204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(2 of 3)</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insertionSort</a:t>
            </a:r>
            <a:r>
              <a:rPr lang="en-US" dirty="0"/>
              <a:t> function:</a:t>
            </a:r>
          </a:p>
        </p:txBody>
      </p:sp>
      <p:sp>
        <p:nvSpPr>
          <p:cNvPr id="5" name="Content Placeholder 4"/>
          <p:cNvSpPr>
            <a:spLocks noGrp="1"/>
          </p:cNvSpPr>
          <p:nvPr>
            <p:ph sz="quarter" idx="12"/>
          </p:nvPr>
        </p:nvSpPr>
        <p:spPr>
          <a:xfrm>
            <a:off x="762000" y="2286000"/>
            <a:ext cx="7315200" cy="3276600"/>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insertionSort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while</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solidFill>
                  <a:srgbClr val="660066"/>
                </a:solidFill>
                <a:latin typeface="Courier New" panose="02070309020205020404" pitchFamily="49" charset="0"/>
                <a:ea typeface="MS Mincho"/>
                <a:cs typeface="Bank Gothic Bold"/>
              </a:rPr>
              <a:t>len</a:t>
            </a:r>
            <a:r>
              <a:rPr lang="nb-NO"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itemToInsert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lyst[i]</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break</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98913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Insertion Sort </a:t>
            </a:r>
            <a:r>
              <a:rPr lang="en-US" sz="2000" dirty="0"/>
              <a:t>(3 of 3)</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3-10: </a:t>
            </a:r>
            <a:r>
              <a:rPr lang="en-IN" dirty="0"/>
              <a:t>A trace of data during insertion sort</a:t>
            </a:r>
            <a:endParaRPr lang="en-US" b="1" dirty="0">
              <a:solidFill>
                <a:srgbClr val="FF6600"/>
              </a:solidFill>
              <a:latin typeface="Courier New" panose="02070309020205020404" pitchFamily="49" charset="0"/>
              <a:ea typeface="MS Mincho"/>
              <a:cs typeface="Bank Gothic Bold"/>
            </a:endParaRPr>
          </a:p>
        </p:txBody>
      </p:sp>
      <p:pic>
        <p:nvPicPr>
          <p:cNvPr id="7" name="Content Placeholder 6" descr="Illustration shows table with trace of data during insertion sort. It has 5 rows and 5 columns. The columns have the following headings from left to right: Unsorted list, after 1st pass, after 2nd pass, after 3rd pass, after 4th pass.  The row entries are as follows. Row 1: 2, 2, 1*, 1, 1. Row 2: 5 with left pointing arrow, 5 with the words no insertion in parenthesis, 2, 2, 2. Row 3: 1, 1 with left pointing arrow, 5, 4*, 3*. Row 4: 4, 4, 4 with left pointing arrow, 5, 4. Row 5: 3, 3, 3, 3 with left pointing arrow, 5. "/>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200581" y="2576651"/>
            <a:ext cx="6727856" cy="2487412"/>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0832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Faster Sorting</a:t>
            </a:r>
            <a:endParaRPr lang="en-US" sz="2000" dirty="0"/>
          </a:p>
        </p:txBody>
      </p:sp>
      <p:sp>
        <p:nvSpPr>
          <p:cNvPr id="3" name="Content Placeholder 2"/>
          <p:cNvSpPr>
            <a:spLocks noGrp="1"/>
          </p:cNvSpPr>
          <p:nvPr>
            <p:ph idx="1"/>
          </p:nvPr>
        </p:nvSpPr>
        <p:spPr>
          <a:xfrm>
            <a:off x="628650" y="1825625"/>
            <a:ext cx="7886700" cy="2898775"/>
          </a:xfrm>
        </p:spPr>
        <p:txBody>
          <a:bodyPr/>
          <a:lstStyle/>
          <a:p>
            <a:pPr marL="291600" indent="-291600">
              <a:spcBef>
                <a:spcPts val="1000"/>
              </a:spcBef>
            </a:pPr>
            <a:r>
              <a:rPr lang="en-US" dirty="0"/>
              <a:t>The secret to these better algorithms is a divide-and-conquer strategy:</a:t>
            </a:r>
          </a:p>
          <a:p>
            <a:pPr lvl="1">
              <a:spcBef>
                <a:spcPts val="1000"/>
              </a:spcBef>
            </a:pPr>
            <a:r>
              <a:rPr lang="en-US" dirty="0"/>
              <a:t>Each algorithm finds a way of breaking the list into smaller sublists</a:t>
            </a:r>
          </a:p>
          <a:p>
            <a:pPr lvl="1">
              <a:spcBef>
                <a:spcPts val="1000"/>
              </a:spcBef>
            </a:pPr>
            <a:r>
              <a:rPr lang="en-US" dirty="0"/>
              <a:t>These sublists are then sorted recursively</a:t>
            </a:r>
          </a:p>
          <a:p>
            <a:pPr marL="291600" indent="-291600">
              <a:spcBef>
                <a:spcPts val="1000"/>
              </a:spcBef>
            </a:pPr>
            <a:r>
              <a:rPr lang="en-US" dirty="0"/>
              <a:t>Ideally, if the number of these subdivisions is log(</a:t>
            </a:r>
            <a:r>
              <a:rPr lang="en-US" i="1" dirty="0"/>
              <a:t>n</a:t>
            </a:r>
            <a:r>
              <a:rPr lang="en-US" dirty="0"/>
              <a:t>) and the amount of work needed to rearrange the data on each subdivision is </a:t>
            </a:r>
            <a:r>
              <a:rPr lang="en-US" i="1" dirty="0"/>
              <a:t>n,</a:t>
            </a:r>
            <a:endParaRPr lang="en-US" dirty="0"/>
          </a:p>
          <a:p>
            <a:pPr lvl="1">
              <a:spcBef>
                <a:spcPts val="1000"/>
              </a:spcBef>
            </a:pPr>
            <a:r>
              <a:rPr lang="en-US" dirty="0"/>
              <a:t>Then the total complexity of such a sort algorithm is O(</a:t>
            </a:r>
            <a:r>
              <a:rPr lang="en-US" i="1" dirty="0"/>
              <a:t>n </a:t>
            </a:r>
            <a:r>
              <a:rPr lang="en-US" dirty="0"/>
              <a:t>log </a:t>
            </a:r>
            <a:r>
              <a:rPr lang="en-US" i="1" dirty="0"/>
              <a:t>n</a:t>
            </a:r>
            <a:r>
              <a:rPr lang="en-US" dirty="0"/>
              <a:t>) </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752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(1 of 7)</a:t>
            </a:r>
          </a:p>
        </p:txBody>
      </p:sp>
      <p:sp>
        <p:nvSpPr>
          <p:cNvPr id="3" name="Content Placeholder 2"/>
          <p:cNvSpPr>
            <a:spLocks noGrp="1"/>
          </p:cNvSpPr>
          <p:nvPr>
            <p:ph idx="1"/>
          </p:nvPr>
        </p:nvSpPr>
        <p:spPr>
          <a:xfrm>
            <a:off x="628650" y="1703206"/>
            <a:ext cx="7886700" cy="663667"/>
          </a:xfrm>
        </p:spPr>
        <p:txBody>
          <a:bodyPr/>
          <a:lstStyle/>
          <a:p>
            <a:pPr marL="291600" indent="-291600">
              <a:spcBef>
                <a:spcPts val="1000"/>
              </a:spcBef>
            </a:pPr>
            <a:r>
              <a:rPr lang="en-US" dirty="0"/>
              <a:t>A merge sort </a:t>
            </a:r>
            <a:r>
              <a:rPr lang="en-US" dirty="0">
                <a:solidFill>
                  <a:srgbClr val="004978"/>
                </a:solidFill>
              </a:rPr>
              <a:t>employs a </a:t>
            </a:r>
            <a:r>
              <a:rPr lang="en-US" dirty="0"/>
              <a:t>recursive, divide-and-conquer strategy to break the O </a:t>
            </a:r>
          </a:p>
        </p:txBody>
      </p:sp>
      <p:graphicFrame>
        <p:nvGraphicFramePr>
          <p:cNvPr id="7" name="Content Placeholder 6" descr="(n squared) barrier:"/>
          <p:cNvGraphicFramePr>
            <a:graphicFrameLocks noGrp="1" noChangeAspect="1"/>
          </p:cNvGraphicFramePr>
          <p:nvPr>
            <p:ph sz="quarter" idx="12"/>
            <p:extLst>
              <p:ext uri="{D42A27DB-BD31-4B8C-83A1-F6EECF244321}">
                <p14:modId xmlns:p14="http://schemas.microsoft.com/office/powerpoint/2010/main" val="1990536956"/>
              </p:ext>
            </p:extLst>
          </p:nvPr>
        </p:nvGraphicFramePr>
        <p:xfrm>
          <a:off x="3873805" y="1958096"/>
          <a:ext cx="1263039" cy="408777"/>
        </p:xfrm>
        <a:graphic>
          <a:graphicData uri="http://schemas.openxmlformats.org/presentationml/2006/ole">
            <mc:AlternateContent xmlns:mc="http://schemas.openxmlformats.org/markup-compatibility/2006">
              <mc:Choice xmlns:v="urn:schemas-microsoft-com:vml" Requires="v">
                <p:oleObj spid="_x0000_s4239" name="Equation" r:id="rId4" imgW="863280" imgH="279360" progId="Equation.DSMT4">
                  <p:embed/>
                </p:oleObj>
              </mc:Choice>
              <mc:Fallback>
                <p:oleObj name="Equation" r:id="rId4" imgW="863280" imgH="279360" progId="Equation.DSMT4">
                  <p:embed/>
                  <p:pic>
                    <p:nvPicPr>
                      <p:cNvPr id="0" name=""/>
                      <p:cNvPicPr/>
                      <p:nvPr/>
                    </p:nvPicPr>
                    <p:blipFill>
                      <a:blip r:embed="rId5"/>
                      <a:stretch>
                        <a:fillRect/>
                      </a:stretch>
                    </p:blipFill>
                    <p:spPr>
                      <a:xfrm>
                        <a:off x="3873805" y="1958096"/>
                        <a:ext cx="1263039" cy="408777"/>
                      </a:xfrm>
                      <a:prstGeom prst="rect">
                        <a:avLst/>
                      </a:prstGeom>
                    </p:spPr>
                  </p:pic>
                </p:oleObj>
              </mc:Fallback>
            </mc:AlternateContent>
          </a:graphicData>
        </a:graphic>
      </p:graphicFrame>
      <p:sp>
        <p:nvSpPr>
          <p:cNvPr id="6" name="Content Placeholder 5"/>
          <p:cNvSpPr>
            <a:spLocks noGrp="1"/>
          </p:cNvSpPr>
          <p:nvPr>
            <p:ph sz="quarter" idx="13"/>
          </p:nvPr>
        </p:nvSpPr>
        <p:spPr>
          <a:xfrm>
            <a:off x="650773" y="2514600"/>
            <a:ext cx="7753350" cy="3124200"/>
          </a:xfrm>
        </p:spPr>
        <p:txBody>
          <a:bodyPr/>
          <a:lstStyle/>
          <a:p>
            <a:pPr lvl="1">
              <a:spcBef>
                <a:spcPts val="1000"/>
              </a:spcBef>
            </a:pPr>
            <a:r>
              <a:rPr lang="en-US" dirty="0"/>
              <a:t>Compute the middle position of a list and recursively sort its left and right sublists</a:t>
            </a:r>
          </a:p>
          <a:p>
            <a:pPr lvl="1">
              <a:spcBef>
                <a:spcPts val="1000"/>
              </a:spcBef>
            </a:pPr>
            <a:r>
              <a:rPr lang="en-US" dirty="0"/>
              <a:t>Merge the two sorted sublists back into a single sorted list</a:t>
            </a:r>
          </a:p>
          <a:p>
            <a:pPr lvl="1">
              <a:spcBef>
                <a:spcPts val="1000"/>
              </a:spcBef>
            </a:pPr>
            <a:r>
              <a:rPr lang="en-US" dirty="0"/>
              <a:t>Stop the process when sublists can no longer be subdivided</a:t>
            </a:r>
          </a:p>
          <a:p>
            <a:pPr marL="291600" indent="-291600">
              <a:spcBef>
                <a:spcPts val="1000"/>
              </a:spcBef>
            </a:pPr>
            <a:r>
              <a:rPr lang="en-US" dirty="0"/>
              <a:t>Three Python functions collaborate:</a:t>
            </a:r>
          </a:p>
          <a:p>
            <a:pPr lvl="1">
              <a:spcBef>
                <a:spcPts val="1000"/>
              </a:spcBef>
            </a:pPr>
            <a:r>
              <a:rPr lang="en-US" dirty="0"/>
              <a:t>Function called by users</a:t>
            </a:r>
          </a:p>
          <a:p>
            <a:pPr lvl="1">
              <a:spcBef>
                <a:spcPts val="1000"/>
              </a:spcBef>
            </a:pPr>
            <a:r>
              <a:rPr lang="en-US" dirty="0"/>
              <a:t>Helper function that hides the extra parameters required by recursive calls</a:t>
            </a:r>
          </a:p>
          <a:p>
            <a:pPr lvl="1">
              <a:spcBef>
                <a:spcPts val="1000"/>
              </a:spcBef>
            </a:pPr>
            <a:r>
              <a:rPr lang="en-US" dirty="0"/>
              <a:t>A function that implements the merging process</a:t>
            </a:r>
            <a:endParaRPr lang="en-IN" dirty="0"/>
          </a:p>
        </p:txBody>
      </p:sp>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4523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(2 of 7)</a:t>
            </a:r>
          </a:p>
        </p:txBody>
      </p:sp>
      <p:sp>
        <p:nvSpPr>
          <p:cNvPr id="3" name="Content Placeholder 2"/>
          <p:cNvSpPr>
            <a:spLocks noGrp="1"/>
          </p:cNvSpPr>
          <p:nvPr>
            <p:ph idx="1"/>
          </p:nvPr>
        </p:nvSpPr>
        <p:spPr>
          <a:xfrm>
            <a:off x="628650" y="1825625"/>
            <a:ext cx="7886700" cy="2136775"/>
          </a:xfrm>
        </p:spPr>
        <p:txBody>
          <a:bodyPr>
            <a:normAutofit/>
          </a:bodyPr>
          <a:lstStyle/>
          <a:p>
            <a:pPr marL="291600" indent="-291600">
              <a:spcBef>
                <a:spcPts val="1000"/>
              </a:spcBef>
            </a:pPr>
            <a:r>
              <a:rPr lang="en-US" dirty="0"/>
              <a:t>Implementing the merging process</a:t>
            </a:r>
          </a:p>
          <a:p>
            <a:pPr lvl="1">
              <a:spcBef>
                <a:spcPts val="1000"/>
              </a:spcBef>
            </a:pPr>
            <a:r>
              <a:rPr lang="en-US" dirty="0"/>
              <a:t>Merging process uses an array of the same size as the list</a:t>
            </a:r>
          </a:p>
          <a:p>
            <a:pPr lvl="1">
              <a:spcBef>
                <a:spcPts val="1000"/>
              </a:spcBef>
            </a:pPr>
            <a:r>
              <a:rPr lang="en-US" dirty="0"/>
              <a:t>Array is called the </a:t>
            </a:r>
            <a:r>
              <a:rPr lang="en-US" b="1" dirty="0">
                <a:latin typeface="Courier New" panose="02070309020205020404" pitchFamily="49" charset="0"/>
                <a:cs typeface="Courier New" panose="02070309020205020404" pitchFamily="49" charset="0"/>
              </a:rPr>
              <a:t>copyBuffer</a:t>
            </a:r>
          </a:p>
          <a:p>
            <a:pPr lvl="1">
              <a:spcBef>
                <a:spcPts val="1000"/>
              </a:spcBef>
            </a:pPr>
            <a:r>
              <a:rPr lang="en-US" dirty="0"/>
              <a:t>The buffer is allocated once in </a:t>
            </a:r>
            <a:r>
              <a:rPr lang="en-US" b="1" dirty="0">
                <a:latin typeface="Courier New" panose="02070309020205020404" pitchFamily="49" charset="0"/>
                <a:cs typeface="Courier New" panose="02070309020205020404" pitchFamily="49" charset="0"/>
              </a:rPr>
              <a:t>mergeSort</a:t>
            </a:r>
            <a:r>
              <a:rPr lang="en-US" dirty="0"/>
              <a:t> and subsequently passed as an argument to </a:t>
            </a:r>
            <a:r>
              <a:rPr lang="en-US" b="1" dirty="0">
                <a:latin typeface="Courier New" panose="02070309020205020404" pitchFamily="49" charset="0"/>
                <a:cs typeface="Courier New" panose="02070309020205020404" pitchFamily="49" charset="0"/>
              </a:rPr>
              <a:t>mergeSortHelper</a:t>
            </a:r>
            <a:r>
              <a:rPr lang="en-US" dirty="0"/>
              <a:t> and </a:t>
            </a:r>
            <a:r>
              <a:rPr lang="en-US" b="1" dirty="0">
                <a:latin typeface="Courier New" panose="02070309020205020404" pitchFamily="49" charset="0"/>
                <a:cs typeface="Courier New" panose="02070309020205020404" pitchFamily="49" charset="0"/>
              </a:rPr>
              <a:t>merge</a:t>
            </a:r>
          </a:p>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a:t>
            </a:r>
            <a:r>
              <a:rPr lang="en-US" dirty="0"/>
              <a:t>:</a:t>
            </a:r>
          </a:p>
        </p:txBody>
      </p:sp>
      <p:sp>
        <p:nvSpPr>
          <p:cNvPr id="5" name="Content Placeholder 4"/>
          <p:cNvSpPr>
            <a:spLocks noGrp="1"/>
          </p:cNvSpPr>
          <p:nvPr>
            <p:ph sz="quarter" idx="12"/>
          </p:nvPr>
        </p:nvSpPr>
        <p:spPr>
          <a:xfrm>
            <a:off x="749423" y="4024631"/>
            <a:ext cx="7772400" cy="1830192"/>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temporary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mergeSortHelper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0,</a:t>
            </a:r>
            <a:r>
              <a:rPr lang="en-US" b="1" dirty="0">
                <a:latin typeface="Times" panose="02020603050405020304" pitchFamily="18" charset="0"/>
                <a:ea typeface="MS Mincho"/>
              </a:rPr>
              <a:t> </a:t>
            </a:r>
            <a:r>
              <a:rPr lang="en-US" b="1" dirty="0" err="1">
                <a:solidFill>
                  <a:srgbClr val="660066"/>
                </a:solidFill>
                <a:latin typeface="Courier New" panose="02070309020205020404" pitchFamily="49" charset="0"/>
                <a:ea typeface="MS Mincho"/>
              </a:rPr>
              <a:t>len</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6209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(3 of 7)</a:t>
            </a:r>
          </a:p>
        </p:txBody>
      </p:sp>
      <p:sp>
        <p:nvSpPr>
          <p:cNvPr id="3" name="Content Placeholder 2"/>
          <p:cNvSpPr>
            <a:spLocks noGrp="1"/>
          </p:cNvSpPr>
          <p:nvPr>
            <p:ph idx="1"/>
          </p:nvPr>
        </p:nvSpPr>
        <p:spPr>
          <a:xfrm>
            <a:off x="628650" y="1870971"/>
            <a:ext cx="7886700" cy="330691"/>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mergeSortHelper</a:t>
            </a:r>
            <a:r>
              <a:rPr lang="en-US" dirty="0"/>
              <a:t>:</a:t>
            </a:r>
          </a:p>
        </p:txBody>
      </p:sp>
      <p:sp>
        <p:nvSpPr>
          <p:cNvPr id="5" name="Content Placeholder 4"/>
          <p:cNvSpPr>
            <a:spLocks noGrp="1"/>
          </p:cNvSpPr>
          <p:nvPr>
            <p:ph sz="quarter" idx="12"/>
          </p:nvPr>
        </p:nvSpPr>
        <p:spPr>
          <a:xfrm>
            <a:off x="762000" y="2294139"/>
            <a:ext cx="7924800" cy="260707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152019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45161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merge(</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low,</a:t>
            </a:r>
            <a:r>
              <a:rPr lang="en-US" b="1" dirty="0">
                <a:latin typeface="Times" panose="02020603050405020304" pitchFamily="18" charset="0"/>
                <a:ea typeface="MS Mincho"/>
              </a:rPr>
              <a:t> </a:t>
            </a:r>
            <a:r>
              <a:rPr lang="en-US" b="1" dirty="0">
                <a:latin typeface="Courier New" panose="02070309020205020404" pitchFamily="49" charset="0"/>
                <a:ea typeface="MS Mincho"/>
              </a:rPr>
              <a:t>middle,</a:t>
            </a:r>
            <a:r>
              <a:rPr lang="en-US" b="1" dirty="0">
                <a:latin typeface="Times" panose="02020603050405020304" pitchFamily="18" charset="0"/>
                <a:ea typeface="MS Mincho"/>
              </a:rPr>
              <a:t> </a:t>
            </a:r>
            <a:r>
              <a:rPr lang="en-US" b="1" dirty="0">
                <a:latin typeface="Courier New" panose="02070309020205020404" pitchFamily="49" charset="0"/>
                <a:ea typeface="MS Mincho"/>
              </a:rPr>
              <a:t>high)</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5384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(4 of 7)</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3-14: </a:t>
            </a:r>
            <a:r>
              <a:rPr lang="en-IN" dirty="0"/>
              <a:t>Sublists generated during calls of mergeSortHelper</a:t>
            </a:r>
            <a:endParaRPr lang="en-US" dirty="0"/>
          </a:p>
        </p:txBody>
      </p:sp>
      <p:pic>
        <p:nvPicPr>
          <p:cNvPr id="7" name="Content Placeholder 6" descr="Illustration shows sublists generated during calls of merge sort helper. Figure shows rows of numbers at various levels. Level 0. Numbers 4, 1, 7, 6, 5, 3, 8, 2. Level 1. The numbers in Level 0 are split into two rows, first row with numbers 4, 1, 7, 6 and second row with numbers 5, 3, 8, 2. Level 2. The first row in level 1 is split into the rows 4, 1 and 7, 6. The second row in level 1 is split into 5, 3 and 8, 2. Level 3. The rows of numbers from level 2 are further split into individual numbers. Numbers 4, 1 are split into 4 and 1. Numbers 7, 6 are split into 7 and 6. Numbers 5, 3 are split into 5 and 3. Numbers 8, 2 are split into 8 and 2."/>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45384" y="2528172"/>
            <a:ext cx="5804238" cy="3281271"/>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22535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(5 of 7)</a:t>
            </a:r>
          </a:p>
        </p:txBody>
      </p:sp>
      <p:sp>
        <p:nvSpPr>
          <p:cNvPr id="3" name="Content Placeholder 2"/>
          <p:cNvSpPr>
            <a:spLocks noGrp="1"/>
          </p:cNvSpPr>
          <p:nvPr>
            <p:ph idx="1"/>
          </p:nvPr>
        </p:nvSpPr>
        <p:spPr>
          <a:xfrm>
            <a:off x="628650" y="1831814"/>
            <a:ext cx="7886700" cy="404619"/>
          </a:xfrm>
        </p:spPr>
        <p:txBody>
          <a:bodyPr>
            <a:normAutofit/>
          </a:bodyPr>
          <a:lstStyle/>
          <a:p>
            <a:pPr marL="0" indent="0">
              <a:spcBef>
                <a:spcPts val="1000"/>
              </a:spcBef>
              <a:buNone/>
            </a:pPr>
            <a:r>
              <a:rPr lang="en-IN" b="1" dirty="0"/>
              <a:t>Figure 3-15: </a:t>
            </a:r>
            <a:r>
              <a:rPr lang="en-IN" dirty="0"/>
              <a:t>Merging the sublists generated during a merge sort</a:t>
            </a:r>
            <a:endParaRPr lang="en-US" dirty="0"/>
          </a:p>
        </p:txBody>
      </p:sp>
      <p:pic>
        <p:nvPicPr>
          <p:cNvPr id="7" name="Content Placeholder 6" descr="Illustration shows how the sublists generated during a merge sort are merged. Figure shows numbers at various levels. The process starts from the bottom moving upwards. Level 3. Numbers 4, 1, 7, 6, 5, 3, 8, 2 are present individually. Level 2. Numbers 4 and 1 are merged into 1, 4. Numbers 7, 6 are merged into 6, 7. Numbers 5, 3 are merged into 3, 5. Numbers 8, 2 are merged into 2, 8. Level 1. Numbers 1, 4 and 6, 7 are merged into 1, 4, 6, 7. Numbers 3, 5 and 2, 8 are merged into 2, 3, 5, 8. Level 0. Numbers 1, 4, 6, 7 and 2, 3, 5, 8 are merged into 1, 2, 3, 4, 5, 6, 7, 8."/>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99041" y="2519306"/>
            <a:ext cx="5864545" cy="3322528"/>
          </a:xfrm>
        </p:spPr>
      </p:pic>
      <p:sp>
        <p:nvSpPr>
          <p:cNvPr id="8"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4536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Merge Sort </a:t>
            </a:r>
            <a:r>
              <a:rPr lang="en-US" sz="2000" dirty="0"/>
              <a:t>(6 of 7)</a:t>
            </a:r>
          </a:p>
        </p:txBody>
      </p:sp>
      <p:sp>
        <p:nvSpPr>
          <p:cNvPr id="3" name="Content Placeholder 2"/>
          <p:cNvSpPr>
            <a:spLocks noGrp="1"/>
          </p:cNvSpPr>
          <p:nvPr>
            <p:ph idx="1"/>
          </p:nvPr>
        </p:nvSpPr>
        <p:spPr>
          <a:xfrm>
            <a:off x="628650" y="1587366"/>
            <a:ext cx="7886700" cy="251791"/>
          </a:xfrm>
        </p:spPr>
        <p:txBody>
          <a:bodyPr>
            <a:normAutofit fontScale="70000" lnSpcReduction="20000"/>
          </a:bodyPr>
          <a:lstStyle/>
          <a:p>
            <a:pPr marL="291600" indent="-291600">
              <a:lnSpc>
                <a:spcPct val="110000"/>
              </a:lnSpc>
              <a:spcBef>
                <a:spcPts val="1000"/>
              </a:spcBef>
            </a:pPr>
            <a:r>
              <a:rPr lang="en-US" sz="2600" dirty="0"/>
              <a:t>Code for the </a:t>
            </a:r>
            <a:r>
              <a:rPr lang="en-US" sz="2600" b="1" dirty="0">
                <a:latin typeface="Courier New" panose="02070309020205020404" pitchFamily="49" charset="0"/>
                <a:cs typeface="Courier New" panose="02070309020205020404" pitchFamily="49" charset="0"/>
              </a:rPr>
              <a:t>merge</a:t>
            </a:r>
            <a:r>
              <a:rPr lang="en-US" sz="2600" dirty="0"/>
              <a:t> function:</a:t>
            </a:r>
            <a:endParaRPr lang="en-US" dirty="0"/>
          </a:p>
        </p:txBody>
      </p:sp>
      <p:sp>
        <p:nvSpPr>
          <p:cNvPr id="5" name="Content Placeholder 4"/>
          <p:cNvSpPr>
            <a:spLocks noGrp="1"/>
          </p:cNvSpPr>
          <p:nvPr>
            <p:ph sz="quarter" idx="12"/>
          </p:nvPr>
        </p:nvSpPr>
        <p:spPr>
          <a:xfrm>
            <a:off x="762000" y="1950863"/>
            <a:ext cx="7620000" cy="4170144"/>
          </a:xfrm>
        </p:spPr>
        <p:txBody>
          <a:bodyPr>
            <a:normAutofit fontScale="77500" lnSpcReduction="2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process</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Initialize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each</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endParaRPr lang="en-US" sz="1300" dirty="0">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Interleave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sublists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order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maintained.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Courier New" panose="02070309020205020404" pitchFamily="49" charset="0"/>
                <a:ea typeface="MS Mincho"/>
                <a:cs typeface="Bank Gothic Bold"/>
              </a:rPr>
              <a:t> &lt;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i2 += 1</a:t>
            </a:r>
            <a:r>
              <a:rPr lang="en-US" dirty="0">
                <a:latin typeface="Bank Gothic Bold"/>
                <a:ea typeface="MS Mincho"/>
                <a:cs typeface="Bank Gothic Bold"/>
              </a:rPr>
              <a:t>    </a:t>
            </a: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back</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endParaRPr lang="en-US" sz="1300" dirty="0">
              <a:solidFill>
                <a:srgbClr val="C00000"/>
              </a:solidFill>
              <a:latin typeface="Bank Gothic Bold"/>
              <a:ea typeface="MS Mincho"/>
              <a:cs typeface="Bank Gothic Bold"/>
            </a:endParaRPr>
          </a:p>
          <a:p>
            <a:pPr marL="342900" lvl="1" indent="0">
              <a:buNone/>
            </a:pP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proper</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position</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in</a:t>
            </a:r>
            <a:r>
              <a:rPr lang="en-US" b="1" dirty="0">
                <a:solidFill>
                  <a:srgbClr val="C00000"/>
                </a:solidFill>
                <a:latin typeface="Times" panose="02020603050405020304" pitchFamily="18" charset="0"/>
                <a:ea typeface="MS Mincho"/>
              </a:rPr>
              <a:t> </a:t>
            </a:r>
            <a:r>
              <a:rPr lang="en-US" b="1" dirty="0" err="1">
                <a:solidFill>
                  <a:srgbClr val="C00000"/>
                </a:solidFill>
                <a:latin typeface="Courier New" panose="02070309020205020404" pitchFamily="49" charset="0"/>
                <a:ea typeface="MS Mincho"/>
              </a:rPr>
              <a:t>lyst</a:t>
            </a:r>
            <a:endParaRPr lang="en-IN" dirty="0">
              <a:solidFill>
                <a:srgbClr val="C00000"/>
              </a:solidFill>
            </a:endParaRP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46887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(7 of 7)</a:t>
            </a:r>
          </a:p>
        </p:txBody>
      </p:sp>
      <p:sp>
        <p:nvSpPr>
          <p:cNvPr id="3" name="Content Placeholder 2"/>
          <p:cNvSpPr>
            <a:spLocks noGrp="1"/>
          </p:cNvSpPr>
          <p:nvPr>
            <p:ph idx="1"/>
          </p:nvPr>
        </p:nvSpPr>
        <p:spPr>
          <a:xfrm>
            <a:off x="628650" y="1825625"/>
            <a:ext cx="7886700" cy="2822575"/>
          </a:xfrm>
        </p:spPr>
        <p:txBody>
          <a:bodyPr/>
          <a:lstStyle/>
          <a:p>
            <a:pPr marL="291600" indent="-291600">
              <a:spcBef>
                <a:spcPts val="1000"/>
              </a:spcBef>
            </a:pPr>
            <a:r>
              <a:rPr lang="en-US" dirty="0"/>
              <a:t>Complexity analysis for merge sort</a:t>
            </a:r>
          </a:p>
          <a:p>
            <a:pPr lvl="1">
              <a:spcBef>
                <a:spcPts val="1000"/>
              </a:spcBef>
            </a:pPr>
            <a:r>
              <a:rPr lang="en-US" dirty="0"/>
              <a:t>The running time of the </a:t>
            </a:r>
            <a:r>
              <a:rPr lang="en-US" b="1" dirty="0"/>
              <a:t>merge</a:t>
            </a:r>
            <a:r>
              <a:rPr lang="en-US" dirty="0"/>
              <a:t> function is dominated by the two </a:t>
            </a:r>
            <a:r>
              <a:rPr lang="en-US" b="1" dirty="0"/>
              <a:t>for</a:t>
            </a:r>
            <a:r>
              <a:rPr lang="en-US" dirty="0"/>
              <a:t> statements, each of which loops (</a:t>
            </a:r>
            <a:r>
              <a:rPr lang="en-US" b="1" dirty="0"/>
              <a:t>high </a:t>
            </a:r>
            <a:r>
              <a:rPr lang="en-US" b="1" dirty="0">
                <a:latin typeface="Arial" panose="020B0604020202020204" pitchFamily="34" charset="0"/>
                <a:cs typeface="Arial" panose="020B0604020202020204" pitchFamily="34" charset="0"/>
              </a:rPr>
              <a:t>−</a:t>
            </a:r>
            <a:r>
              <a:rPr lang="en-US" b="1" dirty="0"/>
              <a:t> low + 1</a:t>
            </a:r>
            <a:r>
              <a:rPr lang="en-US" dirty="0"/>
              <a:t>) times</a:t>
            </a:r>
          </a:p>
          <a:p>
            <a:pPr lvl="1">
              <a:spcBef>
                <a:spcPts val="1000"/>
              </a:spcBef>
            </a:pPr>
            <a:r>
              <a:rPr lang="en-US" dirty="0"/>
              <a:t>The function’s running time is O(</a:t>
            </a:r>
            <a:r>
              <a:rPr lang="en-US" b="1" dirty="0"/>
              <a:t>high </a:t>
            </a:r>
            <a:r>
              <a:rPr lang="en-US" b="1" dirty="0">
                <a:latin typeface="Arial" panose="020B0604020202020204" pitchFamily="34" charset="0"/>
                <a:cs typeface="Arial" panose="020B0604020202020204" pitchFamily="34" charset="0"/>
              </a:rPr>
              <a:t>−</a:t>
            </a:r>
            <a:r>
              <a:rPr lang="en-US" b="1" dirty="0"/>
              <a:t> low)</a:t>
            </a:r>
          </a:p>
          <a:p>
            <a:pPr lvl="1">
              <a:spcBef>
                <a:spcPts val="1000"/>
              </a:spcBef>
            </a:pPr>
            <a:r>
              <a:rPr lang="en-US" dirty="0"/>
              <a:t>All the merges at a single level take O(</a:t>
            </a:r>
            <a:r>
              <a:rPr lang="en-US" i="1" dirty="0"/>
              <a:t>n</a:t>
            </a:r>
            <a:r>
              <a:rPr lang="en-US" dirty="0"/>
              <a:t>) time</a:t>
            </a:r>
          </a:p>
          <a:p>
            <a:pPr lvl="1">
              <a:spcBef>
                <a:spcPts val="1000"/>
              </a:spcBef>
            </a:pPr>
            <a:r>
              <a:rPr lang="en-US" dirty="0"/>
              <a:t>Because </a:t>
            </a:r>
            <a:r>
              <a:rPr lang="en-US" b="1" dirty="0"/>
              <a:t>mergeSortHelper</a:t>
            </a:r>
            <a:r>
              <a:rPr lang="en-US" dirty="0"/>
              <a:t> splits sublists as evenly as possible at each level, the number of levels is O(log </a:t>
            </a:r>
            <a:r>
              <a:rPr lang="en-US" i="1" dirty="0"/>
              <a:t>n</a:t>
            </a:r>
            <a:r>
              <a:rPr lang="en-US" dirty="0"/>
              <a:t>), and the maximum running time for this function is O(</a:t>
            </a:r>
            <a:r>
              <a:rPr lang="en-US" i="1" dirty="0"/>
              <a:t>n </a:t>
            </a:r>
            <a:r>
              <a:rPr lang="en-US" dirty="0"/>
              <a:t>log </a:t>
            </a:r>
            <a:r>
              <a:rPr lang="en-US" i="1" dirty="0"/>
              <a:t>n</a:t>
            </a:r>
            <a:r>
              <a:rPr lang="en-US" dirty="0"/>
              <a:t>) in all cases</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7342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(1 of 4)</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Outline of the strategy used in the quicksort algorithm:</a:t>
            </a:r>
          </a:p>
          <a:p>
            <a:pPr lvl="1">
              <a:spcBef>
                <a:spcPts val="1000"/>
              </a:spcBef>
            </a:pPr>
            <a:r>
              <a:rPr lang="en-US" dirty="0"/>
              <a:t>Select the item at the list’s midpoint (called the pivot)</a:t>
            </a:r>
          </a:p>
          <a:p>
            <a:pPr lvl="1">
              <a:spcBef>
                <a:spcPts val="1000"/>
              </a:spcBef>
            </a:pPr>
            <a:r>
              <a:rPr lang="en-US" dirty="0"/>
              <a:t>Partition items in the list so that all items less than the pivot are moved to the left of the pivot (rest are moved to the right)</a:t>
            </a:r>
          </a:p>
          <a:p>
            <a:pPr lvl="1">
              <a:spcBef>
                <a:spcPts val="1000"/>
              </a:spcBef>
            </a:pPr>
            <a:r>
              <a:rPr lang="en-US" dirty="0"/>
              <a:t>Divide and conquer</a:t>
            </a:r>
          </a:p>
          <a:p>
            <a:pPr lvl="1">
              <a:spcBef>
                <a:spcPts val="1000"/>
              </a:spcBef>
            </a:pPr>
            <a:r>
              <a:rPr lang="en-US" dirty="0"/>
              <a:t>Process terminates each time it encounters a sublist with fewer than two items</a:t>
            </a:r>
          </a:p>
          <a:p>
            <a:pPr marL="291600" indent="-291600">
              <a:spcBef>
                <a:spcPts val="1000"/>
              </a:spcBef>
            </a:pPr>
            <a:r>
              <a:rPr lang="en-US" dirty="0"/>
              <a:t>Partitioning</a:t>
            </a:r>
          </a:p>
          <a:p>
            <a:pPr lvl="1">
              <a:spcBef>
                <a:spcPts val="1000"/>
              </a:spcBef>
            </a:pPr>
            <a:r>
              <a:rPr lang="en-US" dirty="0"/>
              <a:t>The most complicated part of the algorithm is partitioning the items in a sublist</a:t>
            </a:r>
          </a:p>
          <a:p>
            <a:pPr lvl="1">
              <a:spcBef>
                <a:spcPts val="1000"/>
              </a:spcBef>
            </a:pPr>
            <a:r>
              <a:rPr lang="en-US" dirty="0"/>
              <a:t>See Figures 3.11 and 3.12 on the following slides for an illustration of the steps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9398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(2 of 4)</a:t>
            </a:r>
          </a:p>
        </p:txBody>
      </p:sp>
      <p:sp>
        <p:nvSpPr>
          <p:cNvPr id="3" name="Content Placeholder 2"/>
          <p:cNvSpPr>
            <a:spLocks noGrp="1"/>
          </p:cNvSpPr>
          <p:nvPr>
            <p:ph idx="1"/>
          </p:nvPr>
        </p:nvSpPr>
        <p:spPr>
          <a:xfrm>
            <a:off x="628650" y="1195311"/>
            <a:ext cx="7886700" cy="328690"/>
          </a:xfrm>
        </p:spPr>
        <p:txBody>
          <a:bodyPr/>
          <a:lstStyle/>
          <a:p>
            <a:pPr marL="0" indent="0">
              <a:spcBef>
                <a:spcPts val="1000"/>
              </a:spcBef>
              <a:buNone/>
            </a:pPr>
            <a:r>
              <a:rPr lang="en-IN" b="1" dirty="0"/>
              <a:t>Figure 3-11: </a:t>
            </a:r>
            <a:r>
              <a:rPr lang="en-IN" dirty="0"/>
              <a:t>Partitioning a sublist</a:t>
            </a:r>
            <a:endParaRPr lang="en-US" dirty="0"/>
          </a:p>
        </p:txBody>
      </p:sp>
      <p:pic>
        <p:nvPicPr>
          <p:cNvPr id="7" name="Content Placeholder 6" descr="The figure illustrates the steps as applied to the numbers 12, 19, 17, 18, 14, 11, 15, 13, and 16. In Step 1, the pivot is established and swapped with the last item. In Step 2, the boundary is established before the first item. In Steps 3 to 12, the sublist is scanned for items less than the pivot, these are swapped with the first item after the boundary, and the boundary is advanced. Notice that items to the left of the boundary are less than the pivot at all times. Finally, in Step 13, the pivot is swapped with the first item after the boundary, and the sublist has been successfully partitioned."/>
          <p:cNvPicPr>
            <a:picLocks noGrp="1" noChangeAspect="1"/>
          </p:cNvPicPr>
          <p:nvPr>
            <p:ph sz="quarter" idx="12"/>
          </p:nvPr>
        </p:nvPicPr>
        <p:blipFill>
          <a:blip r:embed="rId3" cstate="print">
            <a:extLst>
              <a:ext uri="{28A0092B-C50C-407E-A947-70E740481C1C}">
                <a14:useLocalDpi xmlns:a14="http://schemas.microsoft.com/office/drawing/2010/main" val="0"/>
              </a:ext>
            </a:extLst>
          </a:blip>
          <a:stretch>
            <a:fillRect/>
          </a:stretch>
        </p:blipFill>
        <p:spPr>
          <a:xfrm>
            <a:off x="1115031" y="1645581"/>
            <a:ext cx="6913936" cy="4425752"/>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42866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(3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3-12: </a:t>
            </a:r>
            <a:r>
              <a:rPr lang="en-IN" dirty="0"/>
              <a:t>Partitioning a sublist</a:t>
            </a:r>
            <a:endParaRPr lang="en-US" dirty="0"/>
          </a:p>
        </p:txBody>
      </p:sp>
      <p:pic>
        <p:nvPicPr>
          <p:cNvPr id="7" name="Content Placeholder 6" descr="Illustration shows table with pivot item when a sublist is partitioned. It has 9 rows and two columns.  The columns have the following headings from left to right: List segment, pivot item.  The row entries are as follows. Row 1: 12 19 17 18 14 11 15 13 16, 14. Row 2: 12 11 13, 11. Row 3: 13 12, 13. Row 4: 12 Row 5: 16 19 15 17 18, 15. Row 6: 19 18 17 16, 18. Row 7: 16 17, 16. Row 8: 17. Row 9: 19."/>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965517" y="2462010"/>
            <a:ext cx="5212964" cy="3483135"/>
          </a:xfrm>
        </p:spPr>
      </p:pic>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0315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(4 of 4)</a:t>
            </a:r>
          </a:p>
        </p:txBody>
      </p:sp>
      <p:sp>
        <p:nvSpPr>
          <p:cNvPr id="3" name="Content Placeholder 2"/>
          <p:cNvSpPr>
            <a:spLocks noGrp="1"/>
          </p:cNvSpPr>
          <p:nvPr>
            <p:ph idx="1"/>
          </p:nvPr>
        </p:nvSpPr>
        <p:spPr>
          <a:xfrm>
            <a:off x="628650" y="1749425"/>
            <a:ext cx="7886700" cy="4270375"/>
          </a:xfrm>
        </p:spPr>
        <p:txBody>
          <a:bodyPr>
            <a:normAutofit/>
          </a:bodyPr>
          <a:lstStyle/>
          <a:p>
            <a:pPr marL="291600" indent="-291600">
              <a:spcBef>
                <a:spcPts val="1000"/>
              </a:spcBef>
            </a:pPr>
            <a:r>
              <a:rPr lang="en-US" dirty="0"/>
              <a:t>Complexity analysis of quicksort</a:t>
            </a:r>
          </a:p>
          <a:p>
            <a:pPr lvl="1">
              <a:spcBef>
                <a:spcPts val="1000"/>
              </a:spcBef>
            </a:pPr>
            <a:r>
              <a:rPr lang="en-US" dirty="0"/>
              <a:t>During the first partition operation, you scan all the items from the beginning of the list to its end</a:t>
            </a:r>
          </a:p>
          <a:p>
            <a:pPr lvl="1">
              <a:spcBef>
                <a:spcPts val="1000"/>
              </a:spcBef>
            </a:pPr>
            <a:r>
              <a:rPr lang="en-US" dirty="0"/>
              <a:t>The amount of work during this operation is proportional to </a:t>
            </a:r>
            <a:r>
              <a:rPr lang="en-US" i="1" dirty="0"/>
              <a:t>n</a:t>
            </a:r>
            <a:r>
              <a:rPr lang="en-US" dirty="0"/>
              <a:t>, the list’s length</a:t>
            </a:r>
          </a:p>
          <a:p>
            <a:pPr lvl="1">
              <a:spcBef>
                <a:spcPts val="1000"/>
              </a:spcBef>
            </a:pPr>
            <a:r>
              <a:rPr lang="en-US" dirty="0"/>
              <a:t>The amount of work after this partition is proportional to the left sublist’s length plus the right sublist’s length, which together yield </a:t>
            </a:r>
            <a:r>
              <a:rPr lang="en-US" i="1" dirty="0"/>
              <a:t>n </a:t>
            </a:r>
            <a:r>
              <a:rPr lang="en-US" dirty="0">
                <a:latin typeface="Arial" panose="020B0604020202020204" pitchFamily="34" charset="0"/>
                <a:cs typeface="Arial" panose="020B0604020202020204" pitchFamily="34" charset="0"/>
              </a:rPr>
              <a:t>−</a:t>
            </a:r>
            <a:r>
              <a:rPr lang="en-US" dirty="0"/>
              <a:t> 1</a:t>
            </a:r>
          </a:p>
          <a:p>
            <a:pPr lvl="1">
              <a:spcBef>
                <a:spcPts val="1000"/>
              </a:spcBef>
            </a:pPr>
            <a:r>
              <a:rPr lang="en-US" dirty="0"/>
              <a:t>When these sublists are divided, there are four pieces whose combined length is approximately </a:t>
            </a:r>
            <a:r>
              <a:rPr lang="en-US" i="1" dirty="0"/>
              <a:t>n</a:t>
            </a:r>
            <a:r>
              <a:rPr lang="en-US" dirty="0"/>
              <a:t>, so the combined work is proportional to </a:t>
            </a:r>
            <a:r>
              <a:rPr lang="en-US" i="1" dirty="0"/>
              <a:t>n </a:t>
            </a:r>
            <a:r>
              <a:rPr lang="en-US" dirty="0"/>
              <a:t>yet again</a:t>
            </a:r>
          </a:p>
          <a:p>
            <a:pPr lvl="1">
              <a:spcBef>
                <a:spcPts val="1000"/>
              </a:spcBef>
            </a:pPr>
            <a:r>
              <a:rPr lang="en-US" dirty="0"/>
              <a:t>As the list is divided into more pieces, the total work remains proportional to </a:t>
            </a:r>
            <a:r>
              <a:rPr lang="en-US" i="1" dirty="0"/>
              <a:t>n</a:t>
            </a:r>
            <a:r>
              <a:rPr lang="en-US" dirty="0"/>
              <a:t>.</a:t>
            </a:r>
          </a:p>
          <a:p>
            <a:pPr lvl="1">
              <a:spcBef>
                <a:spcPts val="1000"/>
              </a:spcBef>
            </a:pPr>
            <a:r>
              <a:rPr lang="en-US" dirty="0"/>
              <a:t>To complete the analysis, you need to determine how many times the lists are partitioned</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75629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(1 of 2)</a:t>
            </a:r>
          </a:p>
        </p:txBody>
      </p:sp>
      <p:sp>
        <p:nvSpPr>
          <p:cNvPr id="3" name="Content Placeholder 2"/>
          <p:cNvSpPr>
            <a:spLocks noGrp="1"/>
          </p:cNvSpPr>
          <p:nvPr>
            <p:ph idx="1"/>
          </p:nvPr>
        </p:nvSpPr>
        <p:spPr>
          <a:xfrm>
            <a:off x="628650" y="1825625"/>
            <a:ext cx="7886700" cy="2289175"/>
          </a:xfrm>
        </p:spPr>
        <p:txBody>
          <a:bodyPr>
            <a:normAutofit/>
          </a:bodyPr>
          <a:lstStyle/>
          <a:p>
            <a:pPr marL="291600" indent="-291600">
              <a:spcBef>
                <a:spcPts val="1000"/>
              </a:spcBef>
            </a:pPr>
            <a:r>
              <a:rPr lang="en-US" dirty="0"/>
              <a:t>The quicksort algorithm is most easily coded using a recursive approach</a:t>
            </a:r>
          </a:p>
          <a:p>
            <a:pPr marL="291600" indent="-291600">
              <a:spcBef>
                <a:spcPts val="1000"/>
              </a:spcBef>
            </a:pPr>
            <a:r>
              <a:rPr lang="en-US" dirty="0"/>
              <a:t>The following script defines a top-level </a:t>
            </a:r>
            <a:r>
              <a:rPr lang="en-US" b="1" dirty="0"/>
              <a:t>quicksort</a:t>
            </a:r>
            <a:r>
              <a:rPr lang="en-US" dirty="0"/>
              <a:t> function for the client, a recursive </a:t>
            </a:r>
            <a:r>
              <a:rPr lang="en-US" b="1" dirty="0"/>
              <a:t>quicksortHelper</a:t>
            </a:r>
            <a:r>
              <a:rPr lang="en-US" dirty="0"/>
              <a:t> function to hide the extra arguments for the endpoints of a sublist, and a </a:t>
            </a:r>
            <a:r>
              <a:rPr lang="en-US" b="1" dirty="0"/>
              <a:t>partition</a:t>
            </a:r>
            <a:r>
              <a:rPr lang="en-US" dirty="0"/>
              <a:t> function:</a:t>
            </a:r>
          </a:p>
          <a:p>
            <a:pPr lvl="1">
              <a:spcBef>
                <a:spcPts val="1000"/>
              </a:spcBef>
            </a:pPr>
            <a:r>
              <a:rPr lang="en-US" dirty="0"/>
              <a:t>Script is continued on the next slide</a:t>
            </a:r>
          </a:p>
        </p:txBody>
      </p:sp>
      <p:sp>
        <p:nvSpPr>
          <p:cNvPr id="5" name="Content Placeholder 4"/>
          <p:cNvSpPr>
            <a:spLocks noGrp="1"/>
          </p:cNvSpPr>
          <p:nvPr>
            <p:ph sz="quarter" idx="12"/>
          </p:nvPr>
        </p:nvSpPr>
        <p:spPr>
          <a:xfrm>
            <a:off x="838200" y="4249736"/>
            <a:ext cx="7467600" cy="1846264"/>
          </a:xfrm>
        </p:spPr>
        <p:txBody>
          <a:bodyPr>
            <a:normAutofit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quicksort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partition(</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IN" dirty="0"/>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233154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(2 of 2)</a:t>
            </a:r>
          </a:p>
        </p:txBody>
      </p:sp>
      <p:sp>
        <p:nvSpPr>
          <p:cNvPr id="3" name="Content Placeholder 2"/>
          <p:cNvSpPr>
            <a:spLocks noGrp="1"/>
          </p:cNvSpPr>
          <p:nvPr>
            <p:ph idx="1"/>
          </p:nvPr>
        </p:nvSpPr>
        <p:spPr>
          <a:xfrm>
            <a:off x="628650" y="1690689"/>
            <a:ext cx="7886700" cy="4351338"/>
          </a:xfrm>
        </p:spPr>
        <p:txBody>
          <a:bodyPr>
            <a:normAutofit fontScale="70000" lnSpcReduction="2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partition</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pivot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lyst[middle]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Move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less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left</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Earlier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definition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function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here</a:t>
            </a:r>
            <a:endParaRPr lang="en-US" sz="1300" dirty="0">
              <a:solidFill>
                <a:srgbClr val="C00000"/>
              </a:solidFill>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random</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main</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20,</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quicksort):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(size):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lyst.append(random.randint(1,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sort(lyst)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__name__</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"__main__"</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main()</a:t>
            </a:r>
            <a:endParaRPr lang="en-US" dirty="0"/>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17129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27F63CBC-DA92-4EB0-96D6-574F9949D6E2"/>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OUTPUT_FOLDER" val="C:\Users\Jvaughey\Downloads\ppt"/>
  <p:tag name="ISPRING_PRESENTATION_TITLE" val="9780357122754_ch03_CE"/>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25898</TotalTime>
  <Words>6488</Words>
  <Application>Microsoft Office PowerPoint</Application>
  <PresentationFormat>On-screen Show (4:3)</PresentationFormat>
  <Paragraphs>518</Paragraphs>
  <Slides>47</Slides>
  <Notes>47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7" baseType="lpstr">
      <vt:lpstr>Arial</vt:lpstr>
      <vt:lpstr>Bank Gothic Bold</vt:lpstr>
      <vt:lpstr>Courier New</vt:lpstr>
      <vt:lpstr>Open Sans</vt:lpstr>
      <vt:lpstr>Open Sans Regular</vt:lpstr>
      <vt:lpstr>Summer Font</vt:lpstr>
      <vt:lpstr>Times</vt:lpstr>
      <vt:lpstr>Times New Roman</vt:lpstr>
      <vt:lpstr>Brand_PPT_Template_SIMPLIFIED_SD</vt:lpstr>
      <vt:lpstr>Equation</vt:lpstr>
      <vt:lpstr>Chapter 3: Searching, Sorting, and Complexity</vt:lpstr>
      <vt:lpstr>Learning Objectives</vt:lpstr>
      <vt:lpstr>Measuring the Run Time of an Algorithm (1 of 6)</vt:lpstr>
      <vt:lpstr>Measuring the Run Time of an Algorithm (2 of 6)</vt:lpstr>
      <vt:lpstr>Measuring the Run Time of an Algorithm (3 of 6)</vt:lpstr>
      <vt:lpstr>Measuring the Run Time of an Algorithm (4 of 6)</vt:lpstr>
      <vt:lpstr>Measuring the Run Time of an Algorithm (5 of 6)</vt:lpstr>
      <vt:lpstr>Measuring the Run Time of an Algorithm (6 of 6)</vt:lpstr>
      <vt:lpstr>Counting Instructions (1 of 3)</vt:lpstr>
      <vt:lpstr>Counting Instructions (2 of 3)</vt:lpstr>
      <vt:lpstr>Counting Instructions (3 of 3)</vt:lpstr>
      <vt:lpstr>Complexity Analysis</vt:lpstr>
      <vt:lpstr>Orders of Complexity (1 of 5)</vt:lpstr>
      <vt:lpstr>Orders of Complexity (2 of 5)</vt:lpstr>
      <vt:lpstr>Orders of Complexity (3 of 5)</vt:lpstr>
      <vt:lpstr>Orders of Complexity (4 of 5)</vt:lpstr>
      <vt:lpstr>Orders of Complexity (5 of 5)</vt:lpstr>
      <vt:lpstr>Big-O-Notation (1 of 2)</vt:lpstr>
      <vt:lpstr>Big-O-Notation (2 of 2)</vt:lpstr>
      <vt:lpstr>The Role of the Constant of Proportionality</vt:lpstr>
      <vt:lpstr>Search Algorithms</vt:lpstr>
      <vt:lpstr>Sequential Search of a List</vt:lpstr>
      <vt:lpstr>Best-Case, Worst-Case, and Average-Case Performance</vt:lpstr>
      <vt:lpstr>Binary Search of a Sorted List (1 of 2)</vt:lpstr>
      <vt:lpstr>Binary Search of a Sorted List (2 of 2)</vt:lpstr>
      <vt:lpstr>Basic Sort Algorithms</vt:lpstr>
      <vt:lpstr>Selection Sort (1 of 2)</vt:lpstr>
      <vt:lpstr>Selection Sort (2 of 2)</vt:lpstr>
      <vt:lpstr>Bubble Sort (1 of 2)</vt:lpstr>
      <vt:lpstr>Bubble Sort (2 of 2)</vt:lpstr>
      <vt:lpstr>Insertion Sort (1 of 3)</vt:lpstr>
      <vt:lpstr>Insertion Sort (2 of 3)</vt:lpstr>
      <vt:lpstr>Insertion Sort (3 of 3)</vt:lpstr>
      <vt:lpstr>Faster Sorting</vt:lpstr>
      <vt:lpstr>Merge Sort (1 of 7)</vt:lpstr>
      <vt:lpstr>Merge Sort (2 of 7)</vt:lpstr>
      <vt:lpstr>Merge Sort (3 of 7)</vt:lpstr>
      <vt:lpstr>Merge Sort (4 of 7)</vt:lpstr>
      <vt:lpstr>Merge Sort (5 of 7)</vt:lpstr>
      <vt:lpstr>Merge Sort (6 of 7)</vt:lpstr>
      <vt:lpstr>Merge Sort (7 of 7)</vt:lpstr>
      <vt:lpstr>Overview of Quicksort (1 of 4)</vt:lpstr>
      <vt:lpstr>Overview of Quicksort (2 of 4)</vt:lpstr>
      <vt:lpstr>Overview of Quicksort (3 of 4)</vt:lpstr>
      <vt:lpstr>Overview of Quicksort (4 of 4)</vt:lpstr>
      <vt:lpstr>Implementation of Quicksort (1 of 2)</vt:lpstr>
      <vt:lpstr>Implementation of Quicksort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9780357122754_ch03_CE</dc:title>
  <dc:creator>Stulga, Michele L</dc:creator>
  <cp:lastModifiedBy>Man Chi Leung</cp:lastModifiedBy>
  <cp:revision>636</cp:revision>
  <dcterms:created xsi:type="dcterms:W3CDTF">2001-07-05T23:10:12Z</dcterms:created>
  <dcterms:modified xsi:type="dcterms:W3CDTF">2022-01-14T14:46:07Z</dcterms:modified>
</cp:coreProperties>
</file>